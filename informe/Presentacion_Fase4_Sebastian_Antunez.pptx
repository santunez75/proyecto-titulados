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076137175" r:id="rId2"/>
    <p:sldId id="2076137361" r:id="rId15"/>
    <p:sldId id="2076137362" r:id="rId16"/>
    <p:sldId id="2076137363" r:id="rId17"/>
    <p:sldId id="2076137364" r:id="rId18"/>
    <p:sldId id="2076137365" r:id="rId19"/>
    <p:sldId id="2076137366" r:id="rId20"/>
    <p:sldId id="2076137367" r:id="rId21"/>
    <p:sldId id="2076137368" r:id="rId22"/>
    <p:sldId id="207613735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50"/>
    <p:restoredTop sz="94674"/>
  </p:normalViewPr>
  <p:slideViewPr>
    <p:cSldViewPr snapToGrid="0">
      <p:cViewPr>
        <p:scale>
          <a:sx n="90" d="100"/>
          <a:sy n="90" d="100"/>
        </p:scale>
        <p:origin x="2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8/10/relationships/authors" Target="author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06-07-26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[0:00 - 0:20 · 20 s]</a:t>
            </a:r>
          </a:p>
          <a:p/>
          <a:p>
            <a:r>
              <a:t>Buenos días. Mi nombre es Sebastian Antunez y voy a presentar el proyecto final del</a:t>
            </a:r>
          </a:p>
          <a:p>
            <a:r>
              <a:t>curso Programación para la Ciencia de Datos: un análisis sobre la sobreduración en la</a:t>
            </a:r>
          </a:p>
          <a:p>
            <a:r>
              <a:t>titulación de la educación superior chilena, construido sobre 1.246.760 procesos de</a:t>
            </a:r>
          </a:p>
          <a:p>
            <a:r>
              <a:t>titulación reales entre 2020 y 2025.</a:t>
            </a:r>
          </a:p>
          <a:p/>
          <a:p>
            <a:r>
              <a:t>RECORDAR: hablar más lento de lo que parece natural; en grabación siempre suena más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[0:20 - 1:10 · 50 s]</a:t>
            </a:r>
          </a:p>
          <a:p/>
          <a:p>
            <a:r>
              <a:t>Cada carrera en Chile declara una duración teórica. Sobre esa cifra se calculan la</a:t>
            </a:r>
          </a:p>
          <a:p>
            <a:r>
              <a:t>duración de las becas y los créditos estatales.</a:t>
            </a:r>
          </a:p>
          <a:p/>
          <a:p>
            <a:r>
              <a:t>Lo que el sistema no publica es cuánto se tarda en realidad. Y aquí está el punto de</a:t>
            </a:r>
          </a:p>
          <a:p>
            <a:r>
              <a:t>partida: al revisar el esquema oficial del SIES descubrí que las columnas que parecían</a:t>
            </a:r>
          </a:p>
          <a:p>
            <a:r>
              <a:t>tener la respuesta NO registran lo que el estudiante tardó, sino lo que el plan declara.</a:t>
            </a:r>
          </a:p>
          <a:p>
            <a:r>
              <a:t>Son un atributo de la carrera, no de la persona.</a:t>
            </a:r>
          </a:p>
          <a:p/>
          <a:p>
            <a:r>
              <a:t>Así que la pregunta fue: se puede reconstruir la duración real desde los registros</a:t>
            </a:r>
          </a:p>
          <a:p>
            <a:r>
              <a:t>administrativos, y caracterizar el rezago con esa variable derivada.</a:t>
            </a:r>
          </a:p>
          <a:p/>
          <a:p>
            <a:r>
              <a:t>PAUSA de medio segundo antes de avanzar: es la bisagra del relato.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[1:10 - 2:10 · 60 s]</a:t>
            </a:r>
          </a:p>
          <a:p/>
          <a:p>
            <a:r>
              <a:t>El proyecto se desarrolló en cuatro fases. La primera definió el problema y levantó el</a:t>
            </a:r>
          </a:p>
          <a:p>
            <a:r>
              <a:t>entorno reproducible. La segunda construyó el pipeline que convierte 955 megabytes de</a:t>
            </a:r>
          </a:p>
          <a:p>
            <a:r>
              <a:t>archivos crudos en un conjunto analítico validado. La tercera implementó el núcleo</a:t>
            </a:r>
          </a:p>
          <a:p>
            <a:r>
              <a:t>algorítmico desde primeros principios, con medición formal de complejidad y un modelo de</a:t>
            </a:r>
          </a:p>
          <a:p>
            <a:r>
              <a:t>dominio orientado a objetos. Y la cuarta, que es la que presento, ejecuta todo eso de</a:t>
            </a:r>
          </a:p>
          <a:p>
            <a:r>
              <a:t>extremo a extremo.</a:t>
            </a:r>
          </a:p>
          <a:p/>
          <a:p>
            <a:r>
              <a:t>La transformación central está abajo: la duración real se deriva del año y semestre de</a:t>
            </a:r>
          </a:p>
          <a:p>
            <a:r>
              <a:t>ingreso y de titulación. El "más uno" no es arbitrario: quien ingresa y se titula en el</a:t>
            </a:r>
          </a:p>
          <a:p>
            <a:r>
              <a:t>mismo semestre cursó un semestre, no cero. Esa coherencia aritmética se verifica como</a:t>
            </a:r>
          </a:p>
          <a:p>
            <a:r>
              <a:t>regla de validación sobre el dataset completo.</a:t>
            </a:r>
          </a:p>
          <a:p/>
          <a:p>
            <a:r>
              <a:t>SI EL VIDEO VA CORTO, agregar aquí: el pipeline retiene el 72,9 por ciento de las filas</a:t>
            </a:r>
          </a:p>
          <a:p>
            <a:r>
              <a:t>originales y cada exclusión está cuantificada en una bitácora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[2:10 - 3:05 · 55 s]</a:t>
            </a:r>
          </a:p>
          <a:p/>
          <a:p>
            <a:r>
              <a:t>Este es el resultado central. Solo el 19 por ciento de los titulados egresa dentro del</a:t>
            </a:r>
          </a:p>
          <a:p>
            <a:r>
              <a:t>plazo que su propio plan declara. Dicho al revés: cuatro de cada cinco se titulan fuera</a:t>
            </a:r>
          </a:p>
          <a:p>
            <a:r>
              <a:t>de plazo.</a:t>
            </a:r>
          </a:p>
          <a:p/>
          <a:p>
            <a:r>
              <a:t>El exceso promedio es de 2 coma 76 semestres, un 43 por ciento más de tiempo del</a:t>
            </a:r>
          </a:p>
          <a:p>
            <a:r>
              <a:t>previsto. Y el rezago severo, más de cuatro semestres de exceso, alcanza al 20 coma 4</a:t>
            </a:r>
          </a:p>
          <a:p>
            <a:r>
              <a:t>por ciento: prácticamente la misma proporción que logra titularse a tiempo.</a:t>
            </a:r>
          </a:p>
          <a:p/>
          <a:p>
            <a:r>
              <a:t>Agregado, el sistema acumula 3 coma 55 millones de semestres-estudiante por sobre lo</a:t>
            </a:r>
          </a:p>
          <a:p>
            <a:r>
              <a:t>planificado en el período.</a:t>
            </a:r>
          </a:p>
          <a:p/>
          <a:p>
            <a:r>
              <a:t>El gráfico de la izquierda muestra por qué reporto media y mediana: la distribución es</a:t>
            </a:r>
          </a:p>
          <a:p>
            <a:r>
              <a:t>asimétrica, con una cola larga que arrastra el promedio.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[3:05 - 4:05 · 60 s]</a:t>
            </a:r>
          </a:p>
          <a:p/>
          <a:p>
            <a:r>
              <a:t>El rezago tampoco se reparte de forma pareja.</a:t>
            </a:r>
          </a:p>
          <a:p/>
          <a:p>
            <a:r>
              <a:t>Por área de conocimiento, Derecho triplica a Educación: 5,77 semestres frente a 1,93.</a:t>
            </a:r>
          </a:p>
          <a:p>
            <a:r>
              <a:t>Casi cuatro semestres, dos años, separan a la carrera más rezagada de la menos rezagada.</a:t>
            </a:r>
          </a:p>
          <a:p/>
          <a:p>
            <a:r>
              <a:t>Por tipo de institución, las universidades acumulan más rezago que los institutos</a:t>
            </a:r>
          </a:p>
          <a:p>
            <a:r>
              <a:t>profesionales y su tasa de titulación oportuna es menos de la mitad. Eso sugiere que la</a:t>
            </a:r>
          </a:p>
          <a:p>
            <a:r>
              <a:t>duración declarada es menos realista en carreras universitarias largas.</a:t>
            </a:r>
          </a:p>
          <a:p/>
          <a:p>
            <a:r>
              <a:t>Y por género, las mujeres se titulan 0 coma 93 semestres antes. Lo importante del panel</a:t>
            </a:r>
          </a:p>
          <a:p>
            <a:r>
              <a:t>derecho es que la brecha se sostiene en las diez áreas sin excepción: no es que estudien</a:t>
            </a:r>
          </a:p>
          <a:p>
            <a:r>
              <a:t>carreras más cortas, es que dentro de cada área se titulan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[4:05 - 4:55 · 50 s]</a:t>
            </a:r>
          </a:p>
          <a:p/>
          <a:p>
            <a:r>
              <a:t>Este hallazgo no estaba en ninguna de las fases anteriores; apareció al mirar la serie</a:t>
            </a:r>
          </a:p>
          <a:p>
            <a:r>
              <a:t>semestral en vez del promedio agregado.</a:t>
            </a:r>
          </a:p>
          <a:p/>
          <a:p>
            <a:r>
              <a:t>En 2020 se titularon unas 87 mil personas menos que en un año normal, y la sobreduración</a:t>
            </a:r>
          </a:p>
          <a:p>
            <a:r>
              <a:t>media tocó su mínimo. En 2021 el volumen se recuperó y la sobreduración alcanzó su</a:t>
            </a:r>
          </a:p>
          <a:p>
            <a:r>
              <a:t>máximo.</a:t>
            </a:r>
          </a:p>
          <a:p/>
          <a:p>
            <a:r>
              <a:t>La tentación es decir que 2020 fue un buen año. Pero no: las titulaciones se</a:t>
            </a:r>
          </a:p>
          <a:p>
            <a:r>
              <a:t>POSTERGARON. Quienes debían egresar en 2020 lo hicieron en 2021, con uno o dos semestres</a:t>
            </a:r>
          </a:p>
          <a:p>
            <a:r>
              <a:t>adicionales encima. El mínimo y el máximo son el mismo fenómeno visto en dos momentos, y</a:t>
            </a:r>
          </a:p>
          <a:p>
            <a:r>
              <a:t>el mecanismo es de desplazamiento administrativo, no de deterioro académico.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[4:55 - 5:35 · 40 s]</a:t>
            </a:r>
          </a:p>
          <a:p/>
          <a:p>
            <a:r>
              <a:t>Y aquí una limitación que condiciona todo lo anterior, y que creo que es uno de los</a:t>
            </a:r>
          </a:p>
          <a:p>
            <a:r>
              <a:t>resultados más valiosos del proyecto.</a:t>
            </a:r>
          </a:p>
          <a:p/>
          <a:p>
            <a:r>
              <a:t>Una base de titulados solo contiene a quien terminó. De las cohortes recientes solo se</a:t>
            </a:r>
          </a:p>
          <a:p>
            <a:r>
              <a:t>han titulado los excepcionalmente rápidos, porque son los únicos que alcanzaron a</a:t>
            </a:r>
          </a:p>
          <a:p>
            <a:r>
              <a:t>hacerlo. De las cohortes antiguas, en cambio, los que aparecen son los extremadamente</a:t>
            </a:r>
          </a:p>
          <a:p>
            <a:r>
              <a:t>rezagados.</a:t>
            </a:r>
          </a:p>
          <a:p/>
          <a:p>
            <a:r>
              <a:t>Ninguna cohorte está completa, y lo están en direcciones opuestas. Por eso el descenso</a:t>
            </a:r>
          </a:p>
          <a:p>
            <a:r>
              <a:t>de la serie desde 2024 no puede leerse como una mejora del sistema. Es una limitación de</a:t>
            </a:r>
          </a:p>
          <a:p>
            <a:r>
              <a:t>la fuente, no del procesamiento, y declararla es parte del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[5:35 - 6:15 · 40 s]</a:t>
            </a:r>
          </a:p>
          <a:p/>
          <a:p>
            <a:r>
              <a:t>Sobre el trabajo técnico: el proyecto tiene 73 pruebas automatizadas que cubren casos</a:t>
            </a:r>
          </a:p>
          <a:p>
            <a:r>
              <a:t>normales, límite y excepciones, y 9 reglas de coherencia del dominio, todas aprobadas.</a:t>
            </a:r>
          </a:p>
          <a:p/>
          <a:p>
            <a:r>
              <a:t>Los algoritmos se implementaron desde cero y se verificaron contra pandas, sorted y</a:t>
            </a:r>
          </a:p>
          <a:p>
            <a:r>
              <a:t>NumPy ANTES de medir su tiempo: medir un algoritmo incorrecto no tiene sentido.</a:t>
            </a:r>
          </a:p>
          <a:p/>
          <a:p>
            <a:r>
              <a:t>Las curvas log-log confirmaron las cotas teóricas, pero también mostraron dónde la</a:t>
            </a:r>
          </a:p>
          <a:p>
            <a:r>
              <a:t>teoría no basta: quickselect es orden n en comparaciones y sin embargo escala como n</a:t>
            </a:r>
          </a:p>
          <a:p>
            <a:r>
              <a:t>elevado a 1,22, porque cada nivel de recursión asigna tres listas nuevas. La cota</a:t>
            </a:r>
          </a:p>
          <a:p>
            <a:r>
              <a:t>describe el crecimiento, no la constante. Ese contraste fue uno de los aprendizajes</a:t>
            </a:r>
          </a:p>
          <a:p>
            <a:r>
              <a:t>centrales del curso.</a:t>
            </a:r>
          </a:p>
          <a:p/>
          <a:p>
            <a:r>
              <a:t>SI EL VIDEO VA LARGO, recortar esta lámina a las dos primeras cifras y omitir el detalle</a:t>
            </a:r>
          </a:p>
          <a:p>
            <a:r>
              <a:t>de quickselect: ahorra unos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[6:15 - 6:55 · 40 s]</a:t>
            </a:r>
          </a:p>
          <a:p/>
          <a:p>
            <a:r>
              <a:t>En síntesis, cuatro conclusiones.</a:t>
            </a:r>
          </a:p>
          <a:p/>
          <a:p>
            <a:r>
              <a:t>El rezago es masivo y estructural, no aleatorio.</a:t>
            </a:r>
          </a:p>
          <a:p/>
          <a:p>
            <a:r>
              <a:t>La pandemia desplazó titulaciones en lugar de empeorarlas.</a:t>
            </a:r>
          </a:p>
          <a:p/>
          <a:p>
            <a:r>
              <a:t>Los registros administrativos no explican el caso individual: el R cuadrado es de 0 coma</a:t>
            </a:r>
          </a:p>
          <a:p>
            <a:r>
              <a:t>085 y la clasificación no supera a predecir siempre la clase mayoritaria. Eso no es un</a:t>
            </a:r>
          </a:p>
          <a:p>
            <a:r>
              <a:t>fracaso del modelo, es un resultado: el rezago depende de trayectorias personales que</a:t>
            </a:r>
          </a:p>
          <a:p>
            <a:r>
              <a:t>esta fuente no registra.</a:t>
            </a:r>
          </a:p>
          <a:p/>
          <a:p>
            <a:r>
              <a:t>Y todo el proyecto es reproducible: cuatro comandos lo instalan y ejecutan, con 36</a:t>
            </a:r>
          </a:p>
          <a:p>
            <a:r>
              <a:t>commits verificables y cada cifra rastreable hasta el archivo que la generó.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[6:55 - 7:10 · 15 s]</a:t>
            </a:r>
          </a:p>
          <a:p/>
          <a:p>
            <a:r>
              <a:t>Lo que queda para seguir: incorporar la base de matrícula para ver la deserción, que hoy</a:t>
            </a:r>
          </a:p>
          <a:p>
            <a:r>
              <a:t>es invisible; usar modelos de supervivencia, que son los adecuados para datos</a:t>
            </a:r>
          </a:p>
          <a:p>
            <a:r>
              <a:t>censurados; y ampliar las variables hacia la trayectoria individual.</a:t>
            </a:r>
          </a:p>
          <a:p/>
          <a:p>
            <a:r>
              <a:t>El repositorio completo está disponible en GitHub.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emf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lIns="91440" tIns="45720" rIns="91440" bIns="45720" rtlCol="0" anchor="b" wrap="square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RESULTADO PRINCIPAL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distribucion_sobredu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24" y="3154680"/>
            <a:ext cx="6552952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REZAGO NO ES HOMOGÉNEO</a:t>
            </a:r>
          </a:p>
        </p:txBody>
      </p:sp>
      <p:pic>
        <p:nvPicPr>
          <p:cNvPr id="15" name="Picture 14" descr="f4_factores_sobredu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259" y="1645920"/>
            <a:ext cx="7923481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Derecho triplica a Educación: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5,77 frente a 1,93 semestres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</a:t>
            </a:r>
          </a:p>
        </p:txBody>
      </p:sp>
      <p:pic>
        <p:nvPicPr>
          <p:cNvPr id="15" name="Picture 14" descr="f4_serie_temp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38" y="1600200"/>
            <a:ext cx="648352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UNA LIMITACIÓN QUE CONDICIONA TODO</a:t>
            </a:r>
          </a:p>
        </p:txBody>
      </p:sp>
      <p:pic>
        <p:nvPicPr>
          <p:cNvPr id="15" name="Picture 14" descr="f4_truncamiento_cohor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910" y="1600200"/>
            <a:ext cx="7390180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36 commits con historial verificable y cada cifra rastreable a su archivo.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2256</TotalTime>
  <Words>493</Words>
  <Application>Microsoft Macintosh PowerPoint</Application>
  <PresentationFormat>Panorámica</PresentationFormat>
  <Paragraphs>36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LOREM IPSUM DOLOR SIT AMET, CONSECTETUR ADIPISCING ELIT. MORBI TURPIS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Sebastian Antunez Noguera</cp:lastModifiedBy>
  <cp:revision>30</cp:revision>
  <dcterms:created xsi:type="dcterms:W3CDTF">2023-10-13T18:05:47Z</dcterms:created>
  <dcterms:modified xsi:type="dcterms:W3CDTF">2026-07-06T14:35:48Z</dcterms:modified>
  <cp:category/>
</cp:coreProperties>
</file>