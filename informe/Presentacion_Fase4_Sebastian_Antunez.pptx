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076137175" r:id="rId2"/>
    <p:sldId id="2076137361" r:id="rId3"/>
    <p:sldId id="2076137362" r:id="rId4"/>
    <p:sldId id="2076137363" r:id="rId5"/>
    <p:sldId id="2076137364" r:id="rId6"/>
    <p:sldId id="2076137365" r:id="rId7"/>
    <p:sldId id="2076137366" r:id="rId8"/>
    <p:sldId id="2076137367" r:id="rId9"/>
    <p:sldId id="2076137368" r:id="rId10"/>
    <p:sldId id="207613735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0"/>
    <p:restoredTop sz="72397" autoAdjust="0"/>
  </p:normalViewPr>
  <p:slideViewPr>
    <p:cSldViewPr snapToGrid="0">
      <p:cViewPr varScale="1">
        <p:scale>
          <a:sx n="80" d="100"/>
          <a:sy n="80" d="100"/>
        </p:scale>
        <p:origin x="19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01-10-2026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carrera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Chile </a:t>
            </a:r>
            <a:r>
              <a:rPr dirty="0" err="1"/>
              <a:t>declara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duración</a:t>
            </a:r>
            <a:r>
              <a:rPr dirty="0"/>
              <a:t> </a:t>
            </a:r>
            <a:r>
              <a:rPr dirty="0" err="1"/>
              <a:t>teórica</a:t>
            </a:r>
            <a:r>
              <a:rPr dirty="0"/>
              <a:t>.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esa</a:t>
            </a:r>
            <a:r>
              <a:rPr dirty="0"/>
              <a:t> </a:t>
            </a:r>
            <a:r>
              <a:rPr dirty="0" err="1"/>
              <a:t>cifra</a:t>
            </a:r>
            <a:r>
              <a:rPr dirty="0"/>
              <a:t> se </a:t>
            </a:r>
            <a:r>
              <a:rPr dirty="0" err="1"/>
              <a:t>calculan</a:t>
            </a:r>
            <a:r>
              <a:rPr dirty="0"/>
              <a:t> la</a:t>
            </a:r>
          </a:p>
          <a:p>
            <a:r>
              <a:rPr dirty="0" err="1"/>
              <a:t>duración</a:t>
            </a:r>
            <a:r>
              <a:rPr dirty="0"/>
              <a:t> de las </a:t>
            </a:r>
            <a:r>
              <a:rPr dirty="0" err="1"/>
              <a:t>becas</a:t>
            </a:r>
            <a:r>
              <a:rPr dirty="0"/>
              <a:t> y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créditos</a:t>
            </a:r>
            <a:r>
              <a:rPr dirty="0"/>
              <a:t> </a:t>
            </a:r>
            <a:r>
              <a:rPr dirty="0" err="1"/>
              <a:t>estatales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 que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no publica es </a:t>
            </a:r>
            <a:r>
              <a:rPr dirty="0" err="1"/>
              <a:t>cuánto</a:t>
            </a:r>
            <a:r>
              <a:rPr dirty="0"/>
              <a:t> se </a:t>
            </a:r>
            <a:r>
              <a:rPr dirty="0" err="1"/>
              <a:t>tarda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realidad</a:t>
            </a:r>
            <a:r>
              <a:rPr dirty="0"/>
              <a:t>. Y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punto de</a:t>
            </a:r>
          </a:p>
          <a:p>
            <a:r>
              <a:rPr dirty="0" err="1"/>
              <a:t>partida</a:t>
            </a:r>
            <a:r>
              <a:rPr dirty="0"/>
              <a:t>: al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esquema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del SIES </a:t>
            </a:r>
            <a:r>
              <a:rPr dirty="0" err="1"/>
              <a:t>descubrí</a:t>
            </a:r>
            <a:r>
              <a:rPr dirty="0"/>
              <a:t> que las </a:t>
            </a:r>
            <a:r>
              <a:rPr dirty="0" err="1"/>
              <a:t>columnas</a:t>
            </a:r>
            <a:r>
              <a:rPr dirty="0"/>
              <a:t> que </a:t>
            </a:r>
            <a:r>
              <a:rPr dirty="0" err="1"/>
              <a:t>parecían</a:t>
            </a:r>
            <a:endParaRPr dirty="0"/>
          </a:p>
          <a:p>
            <a:r>
              <a:rPr dirty="0" err="1"/>
              <a:t>tener</a:t>
            </a:r>
            <a:r>
              <a:rPr dirty="0"/>
              <a:t> la </a:t>
            </a:r>
            <a:r>
              <a:rPr dirty="0" err="1"/>
              <a:t>respuesta</a:t>
            </a:r>
            <a:r>
              <a:rPr dirty="0"/>
              <a:t> NO </a:t>
            </a:r>
            <a:r>
              <a:rPr dirty="0" err="1"/>
              <a:t>registran</a:t>
            </a:r>
            <a:r>
              <a:rPr dirty="0"/>
              <a:t> lo que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estudiante</a:t>
            </a:r>
            <a:r>
              <a:rPr dirty="0"/>
              <a:t> </a:t>
            </a:r>
            <a:r>
              <a:rPr dirty="0" err="1"/>
              <a:t>tardó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lo que </a:t>
            </a:r>
            <a:r>
              <a:rPr dirty="0" err="1"/>
              <a:t>el</a:t>
            </a:r>
            <a:r>
              <a:rPr dirty="0"/>
              <a:t> plan </a:t>
            </a:r>
            <a:r>
              <a:rPr dirty="0" err="1"/>
              <a:t>declara</a:t>
            </a:r>
            <a:r>
              <a:rPr dirty="0"/>
              <a:t>.</a:t>
            </a:r>
          </a:p>
          <a:p>
            <a:r>
              <a:rPr dirty="0"/>
              <a:t>Son un </a:t>
            </a:r>
            <a:r>
              <a:rPr dirty="0" err="1"/>
              <a:t>atributo</a:t>
            </a:r>
            <a:r>
              <a:rPr dirty="0"/>
              <a:t> de la </a:t>
            </a:r>
            <a:r>
              <a:rPr dirty="0" err="1"/>
              <a:t>carrera</a:t>
            </a:r>
            <a:r>
              <a:rPr dirty="0"/>
              <a:t>, no de la persona.</a:t>
            </a:r>
          </a:p>
          <a:p>
            <a:endParaRPr dirty="0"/>
          </a:p>
          <a:p>
            <a:r>
              <a:rPr dirty="0" err="1"/>
              <a:t>Así</a:t>
            </a:r>
            <a:r>
              <a:rPr dirty="0"/>
              <a:t> que la </a:t>
            </a: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fue</a:t>
            </a:r>
            <a:r>
              <a:rPr dirty="0"/>
              <a:t>: se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reconstruir</a:t>
            </a:r>
            <a:r>
              <a:rPr dirty="0"/>
              <a:t> la </a:t>
            </a:r>
            <a:r>
              <a:rPr dirty="0" err="1"/>
              <a:t>duración</a:t>
            </a:r>
            <a:r>
              <a:rPr dirty="0"/>
              <a:t> real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registros</a:t>
            </a:r>
            <a:endParaRPr dirty="0"/>
          </a:p>
          <a:p>
            <a:r>
              <a:rPr dirty="0" err="1"/>
              <a:t>administrativos</a:t>
            </a:r>
            <a:r>
              <a:rPr dirty="0"/>
              <a:t>, y </a:t>
            </a:r>
            <a:r>
              <a:rPr dirty="0" err="1"/>
              <a:t>caracterizar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con </a:t>
            </a:r>
            <a:r>
              <a:rPr dirty="0" err="1"/>
              <a:t>esa</a:t>
            </a:r>
            <a:r>
              <a:rPr dirty="0"/>
              <a:t> variable </a:t>
            </a:r>
            <a:r>
              <a:rPr dirty="0" err="1"/>
              <a:t>derivada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</a:t>
            </a:r>
            <a:r>
              <a:rPr dirty="0" err="1"/>
              <a:t>proyecto</a:t>
            </a:r>
            <a:r>
              <a:rPr dirty="0"/>
              <a:t> se </a:t>
            </a:r>
            <a:r>
              <a:rPr dirty="0" err="1"/>
              <a:t>desarrolló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cuatro </a:t>
            </a:r>
            <a:r>
              <a:rPr dirty="0" err="1"/>
              <a:t>fases</a:t>
            </a:r>
            <a:r>
              <a:rPr dirty="0"/>
              <a:t>. La </a:t>
            </a:r>
            <a:r>
              <a:rPr dirty="0" err="1"/>
              <a:t>primera</a:t>
            </a:r>
            <a:r>
              <a:rPr dirty="0"/>
              <a:t> </a:t>
            </a:r>
            <a:r>
              <a:rPr dirty="0" err="1"/>
              <a:t>definió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y </a:t>
            </a:r>
            <a:r>
              <a:rPr dirty="0" err="1"/>
              <a:t>levantó</a:t>
            </a:r>
            <a:r>
              <a:rPr dirty="0"/>
              <a:t> </a:t>
            </a:r>
            <a:r>
              <a:rPr dirty="0" err="1"/>
              <a:t>el</a:t>
            </a:r>
            <a:endParaRPr dirty="0"/>
          </a:p>
          <a:p>
            <a:r>
              <a:rPr dirty="0" err="1"/>
              <a:t>entorno</a:t>
            </a:r>
            <a:r>
              <a:rPr dirty="0"/>
              <a:t> reproducible. La </a:t>
            </a:r>
            <a:r>
              <a:rPr dirty="0" err="1"/>
              <a:t>segunda</a:t>
            </a:r>
            <a:r>
              <a:rPr dirty="0"/>
              <a:t> </a:t>
            </a:r>
            <a:r>
              <a:rPr dirty="0" err="1"/>
              <a:t>construyó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pipeline que </a:t>
            </a:r>
            <a:r>
              <a:rPr dirty="0" err="1"/>
              <a:t>convierte</a:t>
            </a:r>
            <a:r>
              <a:rPr dirty="0"/>
              <a:t> 955 megabytes de</a:t>
            </a:r>
          </a:p>
          <a:p>
            <a:r>
              <a:rPr dirty="0" err="1"/>
              <a:t>archivos</a:t>
            </a:r>
            <a:r>
              <a:rPr dirty="0"/>
              <a:t> crudos </a:t>
            </a:r>
            <a:r>
              <a:rPr dirty="0" err="1"/>
              <a:t>en</a:t>
            </a:r>
            <a:r>
              <a:rPr dirty="0"/>
              <a:t> un conjunto </a:t>
            </a:r>
            <a:r>
              <a:rPr dirty="0" err="1"/>
              <a:t>analítico</a:t>
            </a:r>
            <a:r>
              <a:rPr dirty="0"/>
              <a:t> </a:t>
            </a:r>
            <a:r>
              <a:rPr dirty="0" err="1"/>
              <a:t>validado</a:t>
            </a:r>
            <a:r>
              <a:rPr dirty="0"/>
              <a:t>. La </a:t>
            </a:r>
            <a:r>
              <a:rPr dirty="0" err="1"/>
              <a:t>tercera</a:t>
            </a:r>
            <a:r>
              <a:rPr dirty="0"/>
              <a:t> </a:t>
            </a:r>
            <a:r>
              <a:rPr dirty="0" err="1"/>
              <a:t>implementó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núcleo</a:t>
            </a:r>
            <a:endParaRPr dirty="0"/>
          </a:p>
          <a:p>
            <a:r>
              <a:rPr dirty="0" err="1"/>
              <a:t>algorítmico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primeros</a:t>
            </a:r>
            <a:r>
              <a:rPr dirty="0"/>
              <a:t> </a:t>
            </a:r>
            <a:r>
              <a:rPr dirty="0" err="1"/>
              <a:t>principios</a:t>
            </a:r>
            <a:r>
              <a:rPr dirty="0"/>
              <a:t>, con </a:t>
            </a:r>
            <a:r>
              <a:rPr dirty="0" err="1"/>
              <a:t>medición</a:t>
            </a:r>
            <a:r>
              <a:rPr dirty="0"/>
              <a:t> formal de </a:t>
            </a:r>
            <a:r>
              <a:rPr dirty="0" err="1"/>
              <a:t>complejidad</a:t>
            </a:r>
            <a:r>
              <a:rPr dirty="0"/>
              <a:t> y un </a:t>
            </a:r>
            <a:r>
              <a:rPr dirty="0" err="1"/>
              <a:t>modelo</a:t>
            </a:r>
            <a:r>
              <a:rPr dirty="0"/>
              <a:t> de</a:t>
            </a:r>
          </a:p>
          <a:p>
            <a:r>
              <a:rPr dirty="0" err="1"/>
              <a:t>dominio</a:t>
            </a:r>
            <a:r>
              <a:rPr dirty="0"/>
              <a:t> </a:t>
            </a:r>
            <a:r>
              <a:rPr dirty="0" err="1"/>
              <a:t>orientado</a:t>
            </a:r>
            <a:r>
              <a:rPr dirty="0"/>
              <a:t> a </a:t>
            </a:r>
            <a:r>
              <a:rPr dirty="0" err="1"/>
              <a:t>objetos</a:t>
            </a:r>
            <a:r>
              <a:rPr dirty="0"/>
              <a:t>. Y la </a:t>
            </a:r>
            <a:r>
              <a:rPr dirty="0" err="1"/>
              <a:t>cuarta</a:t>
            </a:r>
            <a:r>
              <a:rPr dirty="0"/>
              <a:t>, que es la que </a:t>
            </a:r>
            <a:r>
              <a:rPr dirty="0" err="1"/>
              <a:t>presento</a:t>
            </a:r>
            <a:r>
              <a:rPr dirty="0"/>
              <a:t>, </a:t>
            </a:r>
            <a:r>
              <a:rPr dirty="0" err="1"/>
              <a:t>ejecuta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 de</a:t>
            </a:r>
          </a:p>
          <a:p>
            <a:r>
              <a:rPr dirty="0" err="1"/>
              <a:t>extremo</a:t>
            </a:r>
            <a:r>
              <a:rPr dirty="0"/>
              <a:t> a </a:t>
            </a:r>
            <a:r>
              <a:rPr dirty="0" err="1"/>
              <a:t>extremo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transformación</a:t>
            </a:r>
            <a:r>
              <a:rPr dirty="0"/>
              <a:t> central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abajo</a:t>
            </a:r>
            <a:r>
              <a:rPr dirty="0"/>
              <a:t>: la </a:t>
            </a:r>
            <a:r>
              <a:rPr dirty="0" err="1"/>
              <a:t>duración</a:t>
            </a:r>
            <a:r>
              <a:rPr dirty="0"/>
              <a:t> real se </a:t>
            </a:r>
            <a:r>
              <a:rPr dirty="0" err="1"/>
              <a:t>deriva</a:t>
            </a:r>
            <a:r>
              <a:rPr dirty="0"/>
              <a:t> del </a:t>
            </a:r>
            <a:r>
              <a:rPr dirty="0" err="1"/>
              <a:t>año</a:t>
            </a:r>
            <a:r>
              <a:rPr dirty="0"/>
              <a:t> y </a:t>
            </a:r>
            <a:r>
              <a:rPr dirty="0" err="1"/>
              <a:t>semestre</a:t>
            </a:r>
            <a:r>
              <a:rPr dirty="0"/>
              <a:t> de</a:t>
            </a:r>
          </a:p>
          <a:p>
            <a:r>
              <a:rPr dirty="0" err="1"/>
              <a:t>ingreso</a:t>
            </a:r>
            <a:r>
              <a:rPr dirty="0"/>
              <a:t> y de </a:t>
            </a:r>
            <a:r>
              <a:rPr dirty="0" err="1"/>
              <a:t>titulación</a:t>
            </a:r>
            <a:r>
              <a:rPr dirty="0"/>
              <a:t>. El "</a:t>
            </a:r>
            <a:r>
              <a:rPr dirty="0" err="1"/>
              <a:t>más</a:t>
            </a:r>
            <a:r>
              <a:rPr dirty="0"/>
              <a:t> uno" no es </a:t>
            </a:r>
            <a:r>
              <a:rPr dirty="0" err="1"/>
              <a:t>arbitrario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ingresa</a:t>
            </a:r>
            <a:r>
              <a:rPr dirty="0"/>
              <a:t> y se </a:t>
            </a:r>
            <a:r>
              <a:rPr dirty="0" err="1"/>
              <a:t>titula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endParaRPr dirty="0"/>
          </a:p>
          <a:p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semestre</a:t>
            </a:r>
            <a:r>
              <a:rPr dirty="0"/>
              <a:t> </a:t>
            </a:r>
            <a:r>
              <a:rPr dirty="0" err="1"/>
              <a:t>cursó</a:t>
            </a:r>
            <a:r>
              <a:rPr dirty="0"/>
              <a:t> un </a:t>
            </a:r>
            <a:r>
              <a:rPr dirty="0" err="1"/>
              <a:t>semestre</a:t>
            </a:r>
            <a:r>
              <a:rPr dirty="0"/>
              <a:t>, no cero. Esa </a:t>
            </a:r>
            <a:r>
              <a:rPr dirty="0" err="1"/>
              <a:t>coherencia</a:t>
            </a:r>
            <a:r>
              <a:rPr dirty="0"/>
              <a:t> </a:t>
            </a:r>
            <a:r>
              <a:rPr dirty="0" err="1"/>
              <a:t>aritmética</a:t>
            </a:r>
            <a:r>
              <a:rPr dirty="0"/>
              <a:t> se </a:t>
            </a:r>
            <a:r>
              <a:rPr dirty="0" err="1"/>
              <a:t>verifica</a:t>
            </a:r>
            <a:r>
              <a:rPr dirty="0"/>
              <a:t> </a:t>
            </a:r>
            <a:r>
              <a:rPr dirty="0" err="1"/>
              <a:t>como</a:t>
            </a:r>
            <a:endParaRPr dirty="0"/>
          </a:p>
          <a:p>
            <a:r>
              <a:rPr dirty="0" err="1"/>
              <a:t>regla</a:t>
            </a:r>
            <a:r>
              <a:rPr dirty="0"/>
              <a:t> de </a:t>
            </a:r>
            <a:r>
              <a:rPr dirty="0" err="1"/>
              <a:t>validación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 </a:t>
            </a:r>
            <a:r>
              <a:rPr dirty="0" err="1"/>
              <a:t>completo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Este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 central. Solo </a:t>
            </a:r>
            <a:r>
              <a:rPr dirty="0" err="1"/>
              <a:t>el</a:t>
            </a:r>
            <a:r>
              <a:rPr dirty="0"/>
              <a:t> 19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titulados</a:t>
            </a:r>
            <a:r>
              <a:rPr dirty="0"/>
              <a:t> </a:t>
            </a:r>
            <a:r>
              <a:rPr dirty="0" err="1"/>
              <a:t>egresa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del</a:t>
            </a:r>
          </a:p>
          <a:p>
            <a:r>
              <a:rPr dirty="0" err="1"/>
              <a:t>plazo</a:t>
            </a:r>
            <a:r>
              <a:rPr dirty="0"/>
              <a:t> que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plan </a:t>
            </a:r>
            <a:r>
              <a:rPr dirty="0" err="1"/>
              <a:t>declara</a:t>
            </a:r>
            <a:r>
              <a:rPr dirty="0"/>
              <a:t>. </a:t>
            </a:r>
            <a:r>
              <a:rPr dirty="0" err="1"/>
              <a:t>Dicho</a:t>
            </a:r>
            <a:r>
              <a:rPr dirty="0"/>
              <a:t> al </a:t>
            </a:r>
            <a:r>
              <a:rPr dirty="0" err="1"/>
              <a:t>revés</a:t>
            </a:r>
            <a:r>
              <a:rPr dirty="0"/>
              <a:t>: cuatro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cinco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</a:t>
            </a:r>
            <a:r>
              <a:rPr dirty="0" err="1"/>
              <a:t>fuera</a:t>
            </a:r>
            <a:endParaRPr dirty="0"/>
          </a:p>
          <a:p>
            <a:r>
              <a:rPr dirty="0"/>
              <a:t>de </a:t>
            </a:r>
            <a:r>
              <a:rPr dirty="0" err="1"/>
              <a:t>plazo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exceso</a:t>
            </a:r>
            <a:r>
              <a:rPr dirty="0"/>
              <a:t> </a:t>
            </a:r>
            <a:r>
              <a:rPr dirty="0" err="1"/>
              <a:t>promedio</a:t>
            </a:r>
            <a:r>
              <a:rPr dirty="0"/>
              <a:t> es de 2 coma 76 </a:t>
            </a:r>
            <a:r>
              <a:rPr dirty="0" err="1"/>
              <a:t>semestres</a:t>
            </a:r>
            <a:r>
              <a:rPr dirty="0"/>
              <a:t>, un 43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de </a:t>
            </a:r>
            <a:r>
              <a:rPr dirty="0" err="1"/>
              <a:t>tiempo</a:t>
            </a:r>
            <a:r>
              <a:rPr dirty="0"/>
              <a:t> del</a:t>
            </a:r>
          </a:p>
          <a:p>
            <a:r>
              <a:rPr dirty="0" err="1"/>
              <a:t>previsto</a:t>
            </a:r>
            <a:r>
              <a:rPr dirty="0"/>
              <a:t>.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severo</a:t>
            </a:r>
            <a:r>
              <a:rPr dirty="0"/>
              <a:t>, </a:t>
            </a:r>
            <a:r>
              <a:rPr dirty="0" err="1"/>
              <a:t>más</a:t>
            </a:r>
            <a:r>
              <a:rPr dirty="0"/>
              <a:t> de cuatro </a:t>
            </a:r>
            <a:r>
              <a:rPr dirty="0" err="1"/>
              <a:t>semestres</a:t>
            </a:r>
            <a:r>
              <a:rPr dirty="0"/>
              <a:t> de </a:t>
            </a:r>
            <a:r>
              <a:rPr dirty="0" err="1"/>
              <a:t>exceso</a:t>
            </a:r>
            <a:r>
              <a:rPr dirty="0"/>
              <a:t>, </a:t>
            </a:r>
            <a:r>
              <a:rPr dirty="0" err="1"/>
              <a:t>alcanza</a:t>
            </a:r>
            <a:r>
              <a:rPr dirty="0"/>
              <a:t> al 20 coma 4</a:t>
            </a:r>
          </a:p>
          <a:p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ciento</a:t>
            </a:r>
            <a:r>
              <a:rPr dirty="0"/>
              <a:t>: </a:t>
            </a:r>
            <a:r>
              <a:rPr dirty="0" err="1"/>
              <a:t>prácticamente</a:t>
            </a:r>
            <a:r>
              <a:rPr dirty="0"/>
              <a:t>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proporción</a:t>
            </a:r>
            <a:r>
              <a:rPr dirty="0"/>
              <a:t> que </a:t>
            </a:r>
            <a:r>
              <a:rPr dirty="0" err="1"/>
              <a:t>logra</a:t>
            </a:r>
            <a:r>
              <a:rPr dirty="0"/>
              <a:t> </a:t>
            </a:r>
            <a:r>
              <a:rPr dirty="0" err="1"/>
              <a:t>titularse</a:t>
            </a:r>
            <a:r>
              <a:rPr dirty="0"/>
              <a:t> a </a:t>
            </a:r>
            <a:r>
              <a:rPr dirty="0" err="1"/>
              <a:t>tiempo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Agregado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acumula</a:t>
            </a:r>
            <a:r>
              <a:rPr dirty="0"/>
              <a:t> 3 coma 55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semestres-estudiante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lo</a:t>
            </a:r>
          </a:p>
          <a:p>
            <a:r>
              <a:rPr dirty="0" err="1"/>
              <a:t>planificado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período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gráfico</a:t>
            </a:r>
            <a:r>
              <a:rPr dirty="0"/>
              <a:t> de la </a:t>
            </a:r>
            <a:r>
              <a:rPr dirty="0" err="1"/>
              <a:t>izquierda</a:t>
            </a:r>
            <a:r>
              <a:rPr dirty="0"/>
              <a:t> </a:t>
            </a:r>
            <a:r>
              <a:rPr dirty="0" err="1"/>
              <a:t>muestra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reporto</a:t>
            </a:r>
            <a:r>
              <a:rPr dirty="0"/>
              <a:t> media y </a:t>
            </a:r>
            <a:r>
              <a:rPr dirty="0" err="1"/>
              <a:t>mediana</a:t>
            </a:r>
            <a:r>
              <a:rPr dirty="0"/>
              <a:t>: la </a:t>
            </a:r>
            <a:r>
              <a:rPr dirty="0" err="1"/>
              <a:t>distribución</a:t>
            </a:r>
            <a:r>
              <a:rPr dirty="0"/>
              <a:t> es</a:t>
            </a:r>
          </a:p>
          <a:p>
            <a:r>
              <a:rPr dirty="0" err="1"/>
              <a:t>asimétrica</a:t>
            </a:r>
            <a:r>
              <a:rPr dirty="0"/>
              <a:t>, con </a:t>
            </a:r>
            <a:r>
              <a:rPr dirty="0" err="1"/>
              <a:t>una</a:t>
            </a:r>
            <a:r>
              <a:rPr dirty="0"/>
              <a:t> cola </a:t>
            </a:r>
            <a:r>
              <a:rPr dirty="0" err="1"/>
              <a:t>larga</a:t>
            </a:r>
            <a:r>
              <a:rPr dirty="0"/>
              <a:t> que arrastra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promedio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tampoco</a:t>
            </a:r>
            <a:r>
              <a:rPr dirty="0"/>
              <a:t> se </a:t>
            </a:r>
            <a:r>
              <a:rPr dirty="0" err="1"/>
              <a:t>reparte</a:t>
            </a:r>
            <a:r>
              <a:rPr dirty="0"/>
              <a:t> de forma pareja.</a:t>
            </a:r>
          </a:p>
          <a:p>
            <a:endParaRPr dirty="0"/>
          </a:p>
          <a:p>
            <a:r>
              <a:rPr dirty="0"/>
              <a:t>Por </a:t>
            </a:r>
            <a:r>
              <a:rPr dirty="0" err="1"/>
              <a:t>área</a:t>
            </a:r>
            <a:r>
              <a:rPr dirty="0"/>
              <a:t> de </a:t>
            </a:r>
            <a:r>
              <a:rPr dirty="0" err="1"/>
              <a:t>conocimiento</a:t>
            </a:r>
            <a:r>
              <a:rPr dirty="0"/>
              <a:t>, Derecho </a:t>
            </a:r>
            <a:r>
              <a:rPr dirty="0" err="1"/>
              <a:t>triplica</a:t>
            </a:r>
            <a:r>
              <a:rPr dirty="0"/>
              <a:t> a </a:t>
            </a:r>
            <a:r>
              <a:rPr dirty="0" err="1"/>
              <a:t>Educación</a:t>
            </a:r>
            <a:r>
              <a:rPr dirty="0"/>
              <a:t>: 5,77 </a:t>
            </a:r>
            <a:r>
              <a:rPr dirty="0" err="1"/>
              <a:t>semestres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 a 1,93.</a:t>
            </a:r>
          </a:p>
          <a:p>
            <a:r>
              <a:rPr dirty="0" err="1"/>
              <a:t>Casi</a:t>
            </a:r>
            <a:r>
              <a:rPr dirty="0"/>
              <a:t> cuatro </a:t>
            </a:r>
            <a:r>
              <a:rPr dirty="0" err="1"/>
              <a:t>semestres</a:t>
            </a:r>
            <a:r>
              <a:rPr dirty="0"/>
              <a:t>, dos </a:t>
            </a:r>
            <a:r>
              <a:rPr dirty="0" err="1"/>
              <a:t>años</a:t>
            </a:r>
            <a:r>
              <a:rPr dirty="0"/>
              <a:t>, </a:t>
            </a:r>
            <a:r>
              <a:rPr dirty="0" err="1"/>
              <a:t>separan</a:t>
            </a:r>
            <a:r>
              <a:rPr dirty="0"/>
              <a:t> a la </a:t>
            </a:r>
            <a:r>
              <a:rPr dirty="0" err="1"/>
              <a:t>carrera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rezagada</a:t>
            </a:r>
            <a:r>
              <a:rPr dirty="0"/>
              <a:t> de la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rezagada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Por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institución</a:t>
            </a:r>
            <a:r>
              <a:rPr dirty="0"/>
              <a:t>, las </a:t>
            </a:r>
            <a:r>
              <a:rPr dirty="0" err="1"/>
              <a:t>universidades</a:t>
            </a:r>
            <a:r>
              <a:rPr dirty="0"/>
              <a:t> </a:t>
            </a:r>
            <a:r>
              <a:rPr dirty="0" err="1"/>
              <a:t>acumulan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que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institutos</a:t>
            </a:r>
            <a:endParaRPr dirty="0"/>
          </a:p>
          <a:p>
            <a:r>
              <a:rPr dirty="0" err="1"/>
              <a:t>profesionales</a:t>
            </a:r>
            <a:r>
              <a:rPr dirty="0"/>
              <a:t> y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tasa</a:t>
            </a:r>
            <a:r>
              <a:rPr dirty="0"/>
              <a:t> de </a:t>
            </a:r>
            <a:r>
              <a:rPr dirty="0" err="1"/>
              <a:t>titulación</a:t>
            </a:r>
            <a:r>
              <a:rPr dirty="0"/>
              <a:t> </a:t>
            </a:r>
            <a:r>
              <a:rPr dirty="0" err="1"/>
              <a:t>oportuna</a:t>
            </a:r>
            <a:r>
              <a:rPr dirty="0"/>
              <a:t> es </a:t>
            </a:r>
            <a:r>
              <a:rPr dirty="0" err="1"/>
              <a:t>menos</a:t>
            </a:r>
            <a:r>
              <a:rPr dirty="0"/>
              <a:t> de la </a:t>
            </a:r>
            <a:r>
              <a:rPr dirty="0" err="1"/>
              <a:t>mitad</a:t>
            </a:r>
            <a:r>
              <a:rPr dirty="0"/>
              <a:t>.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sugiere</a:t>
            </a:r>
            <a:r>
              <a:rPr dirty="0"/>
              <a:t> que la</a:t>
            </a:r>
          </a:p>
          <a:p>
            <a:r>
              <a:rPr dirty="0" err="1"/>
              <a:t>duración</a:t>
            </a:r>
            <a:r>
              <a:rPr dirty="0"/>
              <a:t> </a:t>
            </a:r>
            <a:r>
              <a:rPr dirty="0" err="1"/>
              <a:t>declarada</a:t>
            </a:r>
            <a:r>
              <a:rPr dirty="0"/>
              <a:t> es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realista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carreras</a:t>
            </a:r>
            <a:r>
              <a:rPr dirty="0"/>
              <a:t> </a:t>
            </a:r>
            <a:r>
              <a:rPr dirty="0" err="1"/>
              <a:t>universitarias</a:t>
            </a:r>
            <a:r>
              <a:rPr dirty="0"/>
              <a:t> </a:t>
            </a:r>
            <a:r>
              <a:rPr dirty="0" err="1"/>
              <a:t>largas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Y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género</a:t>
            </a:r>
            <a:r>
              <a:rPr dirty="0"/>
              <a:t>, las </a:t>
            </a:r>
            <a:r>
              <a:rPr dirty="0" err="1"/>
              <a:t>mujeres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0 coma 93 </a:t>
            </a:r>
            <a:r>
              <a:rPr dirty="0" err="1"/>
              <a:t>semestres</a:t>
            </a:r>
            <a:r>
              <a:rPr dirty="0"/>
              <a:t> antes. Lo </a:t>
            </a:r>
            <a:r>
              <a:rPr dirty="0" err="1"/>
              <a:t>importante</a:t>
            </a:r>
            <a:r>
              <a:rPr dirty="0"/>
              <a:t> del panel</a:t>
            </a:r>
          </a:p>
          <a:p>
            <a:r>
              <a:rPr dirty="0"/>
              <a:t>derecho es que la </a:t>
            </a:r>
            <a:r>
              <a:rPr dirty="0" err="1"/>
              <a:t>brecha</a:t>
            </a:r>
            <a:r>
              <a:rPr dirty="0"/>
              <a:t> se </a:t>
            </a:r>
            <a:r>
              <a:rPr dirty="0" err="1"/>
              <a:t>sostiene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las </a:t>
            </a:r>
            <a:r>
              <a:rPr dirty="0" err="1"/>
              <a:t>diez</a:t>
            </a:r>
            <a:r>
              <a:rPr dirty="0"/>
              <a:t> </a:t>
            </a:r>
            <a:r>
              <a:rPr dirty="0" err="1"/>
              <a:t>áreas</a:t>
            </a:r>
            <a:r>
              <a:rPr dirty="0"/>
              <a:t> sin </a:t>
            </a:r>
            <a:r>
              <a:rPr dirty="0" err="1"/>
              <a:t>excepción</a:t>
            </a:r>
            <a:r>
              <a:rPr dirty="0"/>
              <a:t>: no es que </a:t>
            </a:r>
            <a:r>
              <a:rPr dirty="0" err="1"/>
              <a:t>estudien</a:t>
            </a:r>
            <a:endParaRPr dirty="0"/>
          </a:p>
          <a:p>
            <a:r>
              <a:rPr dirty="0" err="1"/>
              <a:t>carreras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cortas</a:t>
            </a:r>
            <a:r>
              <a:rPr dirty="0"/>
              <a:t>, es que </a:t>
            </a:r>
            <a:r>
              <a:rPr dirty="0" err="1"/>
              <a:t>dentro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área</a:t>
            </a:r>
            <a:r>
              <a:rPr dirty="0"/>
              <a:t> se </a:t>
            </a:r>
            <a:r>
              <a:rPr dirty="0" err="1"/>
              <a:t>titulan</a:t>
            </a:r>
            <a:r>
              <a:rPr dirty="0"/>
              <a:t>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Este </a:t>
            </a:r>
            <a:r>
              <a:rPr dirty="0" err="1"/>
              <a:t>hallazgo</a:t>
            </a:r>
            <a:r>
              <a:rPr dirty="0"/>
              <a:t> no </a:t>
            </a:r>
            <a:r>
              <a:rPr dirty="0" err="1"/>
              <a:t>estaba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ninguna</a:t>
            </a:r>
            <a:r>
              <a:rPr dirty="0"/>
              <a:t> de las </a:t>
            </a:r>
            <a:r>
              <a:rPr dirty="0" err="1"/>
              <a:t>fases</a:t>
            </a:r>
            <a:r>
              <a:rPr dirty="0"/>
              <a:t> </a:t>
            </a:r>
            <a:r>
              <a:rPr dirty="0" err="1"/>
              <a:t>anteriores</a:t>
            </a:r>
            <a:r>
              <a:rPr dirty="0"/>
              <a:t>; </a:t>
            </a:r>
            <a:r>
              <a:rPr dirty="0" err="1"/>
              <a:t>apareció</a:t>
            </a:r>
            <a:r>
              <a:rPr dirty="0"/>
              <a:t> al </a:t>
            </a:r>
            <a:r>
              <a:rPr dirty="0" err="1"/>
              <a:t>mirar</a:t>
            </a:r>
            <a:r>
              <a:rPr dirty="0"/>
              <a:t> la </a:t>
            </a:r>
            <a:r>
              <a:rPr dirty="0" err="1"/>
              <a:t>serie</a:t>
            </a:r>
            <a:endParaRPr dirty="0"/>
          </a:p>
          <a:p>
            <a:r>
              <a:rPr dirty="0"/>
              <a:t>semestral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del </a:t>
            </a:r>
            <a:r>
              <a:rPr dirty="0" err="1"/>
              <a:t>promedio</a:t>
            </a:r>
            <a:r>
              <a:rPr dirty="0"/>
              <a:t> </a:t>
            </a:r>
            <a:r>
              <a:rPr dirty="0" err="1"/>
              <a:t>agregado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En 2020 se </a:t>
            </a:r>
            <a:r>
              <a:rPr dirty="0" err="1"/>
              <a:t>titularon</a:t>
            </a:r>
            <a:r>
              <a:rPr dirty="0"/>
              <a:t> </a:t>
            </a:r>
            <a:r>
              <a:rPr dirty="0" err="1"/>
              <a:t>unas</a:t>
            </a:r>
            <a:r>
              <a:rPr dirty="0"/>
              <a:t> 87 mil personas </a:t>
            </a:r>
            <a:r>
              <a:rPr dirty="0" err="1"/>
              <a:t>menos</a:t>
            </a:r>
            <a:r>
              <a:rPr dirty="0"/>
              <a:t> que </a:t>
            </a:r>
            <a:r>
              <a:rPr dirty="0" err="1"/>
              <a:t>en</a:t>
            </a:r>
            <a:r>
              <a:rPr dirty="0"/>
              <a:t> un </a:t>
            </a:r>
            <a:r>
              <a:rPr dirty="0" err="1"/>
              <a:t>año</a:t>
            </a:r>
            <a:r>
              <a:rPr dirty="0"/>
              <a:t> normal, y la </a:t>
            </a:r>
            <a:r>
              <a:rPr dirty="0" err="1"/>
              <a:t>sobreduración</a:t>
            </a:r>
            <a:endParaRPr dirty="0"/>
          </a:p>
          <a:p>
            <a:r>
              <a:rPr dirty="0"/>
              <a:t>media </a:t>
            </a:r>
            <a:r>
              <a:rPr dirty="0" err="1"/>
              <a:t>tocó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mínimo</a:t>
            </a:r>
            <a:r>
              <a:rPr dirty="0"/>
              <a:t>. En 2021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volumen</a:t>
            </a:r>
            <a:r>
              <a:rPr dirty="0"/>
              <a:t> se </a:t>
            </a:r>
            <a:r>
              <a:rPr dirty="0" err="1"/>
              <a:t>recuperó</a:t>
            </a:r>
            <a:r>
              <a:rPr dirty="0"/>
              <a:t> y la </a:t>
            </a:r>
            <a:r>
              <a:rPr dirty="0" err="1"/>
              <a:t>sobreduración</a:t>
            </a:r>
            <a:r>
              <a:rPr dirty="0"/>
              <a:t> </a:t>
            </a:r>
            <a:r>
              <a:rPr dirty="0" err="1"/>
              <a:t>alcanzó</a:t>
            </a:r>
            <a:r>
              <a:rPr dirty="0"/>
              <a:t> </a:t>
            </a:r>
            <a:r>
              <a:rPr dirty="0" err="1"/>
              <a:t>su</a:t>
            </a:r>
            <a:endParaRPr dirty="0"/>
          </a:p>
          <a:p>
            <a:r>
              <a:rPr dirty="0" err="1"/>
              <a:t>máximo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</a:t>
            </a:r>
            <a:r>
              <a:rPr dirty="0" err="1"/>
              <a:t>tentación</a:t>
            </a:r>
            <a:r>
              <a:rPr dirty="0"/>
              <a:t> es </a:t>
            </a:r>
            <a:r>
              <a:rPr dirty="0" err="1"/>
              <a:t>decir</a:t>
            </a:r>
            <a:r>
              <a:rPr dirty="0"/>
              <a:t> que 2020 </a:t>
            </a:r>
            <a:r>
              <a:rPr dirty="0" err="1"/>
              <a:t>fue</a:t>
            </a:r>
            <a:r>
              <a:rPr dirty="0"/>
              <a:t> un </a:t>
            </a:r>
            <a:r>
              <a:rPr dirty="0" err="1"/>
              <a:t>buen</a:t>
            </a:r>
            <a:r>
              <a:rPr dirty="0"/>
              <a:t> </a:t>
            </a:r>
            <a:r>
              <a:rPr dirty="0" err="1"/>
              <a:t>año</a:t>
            </a:r>
            <a:r>
              <a:rPr dirty="0"/>
              <a:t>. Pero no: las </a:t>
            </a:r>
            <a:r>
              <a:rPr dirty="0" err="1"/>
              <a:t>titulaciones</a:t>
            </a:r>
            <a:r>
              <a:rPr dirty="0"/>
              <a:t> se</a:t>
            </a:r>
          </a:p>
          <a:p>
            <a:r>
              <a:rPr dirty="0"/>
              <a:t>POSTERGARON. </a:t>
            </a:r>
            <a:r>
              <a:rPr dirty="0" err="1"/>
              <a:t>Quienes</a:t>
            </a:r>
            <a:r>
              <a:rPr dirty="0"/>
              <a:t> </a:t>
            </a:r>
            <a:r>
              <a:rPr dirty="0" err="1"/>
              <a:t>debían</a:t>
            </a:r>
            <a:r>
              <a:rPr dirty="0"/>
              <a:t> </a:t>
            </a:r>
            <a:r>
              <a:rPr dirty="0" err="1"/>
              <a:t>egresar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2020 lo </a:t>
            </a:r>
            <a:r>
              <a:rPr dirty="0" err="1"/>
              <a:t>hicieron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2021, con uno o dos </a:t>
            </a:r>
            <a:r>
              <a:rPr dirty="0" err="1"/>
              <a:t>semestres</a:t>
            </a:r>
            <a:endParaRPr dirty="0"/>
          </a:p>
          <a:p>
            <a:r>
              <a:rPr dirty="0" err="1"/>
              <a:t>adicionales</a:t>
            </a:r>
            <a:r>
              <a:rPr dirty="0"/>
              <a:t> </a:t>
            </a:r>
            <a:r>
              <a:rPr dirty="0" err="1"/>
              <a:t>encima</a:t>
            </a:r>
            <a:r>
              <a:rPr dirty="0"/>
              <a:t>. El </a:t>
            </a:r>
            <a:r>
              <a:rPr dirty="0" err="1"/>
              <a:t>mínimo</a:t>
            </a:r>
            <a:r>
              <a:rPr dirty="0"/>
              <a:t>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máximo</a:t>
            </a:r>
            <a:r>
              <a:rPr dirty="0"/>
              <a:t> son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fenómeno</a:t>
            </a:r>
            <a:r>
              <a:rPr dirty="0"/>
              <a:t> visto </a:t>
            </a:r>
            <a:r>
              <a:rPr dirty="0" err="1"/>
              <a:t>en</a:t>
            </a:r>
            <a:r>
              <a:rPr dirty="0"/>
              <a:t> dos </a:t>
            </a:r>
            <a:r>
              <a:rPr dirty="0" err="1"/>
              <a:t>momentos</a:t>
            </a:r>
            <a:r>
              <a:rPr dirty="0"/>
              <a:t>, y</a:t>
            </a:r>
          </a:p>
          <a:p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mecanismo</a:t>
            </a:r>
            <a:r>
              <a:rPr dirty="0"/>
              <a:t> es de </a:t>
            </a:r>
            <a:r>
              <a:rPr dirty="0" err="1"/>
              <a:t>desplazamiento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no de </a:t>
            </a:r>
            <a:r>
              <a:rPr dirty="0" err="1"/>
              <a:t>deterioro</a:t>
            </a:r>
            <a:r>
              <a:rPr dirty="0"/>
              <a:t> </a:t>
            </a:r>
            <a:r>
              <a:rPr dirty="0" err="1"/>
              <a:t>académico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Y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limitación</a:t>
            </a:r>
            <a:r>
              <a:rPr dirty="0"/>
              <a:t> que </a:t>
            </a:r>
            <a:r>
              <a:rPr dirty="0" err="1"/>
              <a:t>condiciona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lo anterior, y que </a:t>
            </a:r>
            <a:r>
              <a:rPr dirty="0" err="1"/>
              <a:t>creo</a:t>
            </a:r>
            <a:r>
              <a:rPr dirty="0"/>
              <a:t> que es uno de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valiosos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Una base de </a:t>
            </a:r>
            <a:r>
              <a:rPr dirty="0" err="1"/>
              <a:t>titulados</a:t>
            </a:r>
            <a:r>
              <a:rPr dirty="0"/>
              <a:t> solo </a:t>
            </a:r>
            <a:r>
              <a:rPr dirty="0" err="1"/>
              <a:t>contiene</a:t>
            </a:r>
            <a:r>
              <a:rPr dirty="0"/>
              <a:t> a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terminó</a:t>
            </a:r>
            <a:r>
              <a:rPr dirty="0"/>
              <a:t>. De las </a:t>
            </a:r>
            <a:r>
              <a:rPr dirty="0" err="1"/>
              <a:t>cohortes</a:t>
            </a:r>
            <a:r>
              <a:rPr dirty="0"/>
              <a:t> </a:t>
            </a:r>
            <a:r>
              <a:rPr dirty="0" err="1"/>
              <a:t>recientes</a:t>
            </a:r>
            <a:r>
              <a:rPr dirty="0"/>
              <a:t> solo se</a:t>
            </a:r>
          </a:p>
          <a:p>
            <a:r>
              <a:rPr dirty="0" err="1"/>
              <a:t>han</a:t>
            </a:r>
            <a:r>
              <a:rPr dirty="0"/>
              <a:t> </a:t>
            </a:r>
            <a:r>
              <a:rPr dirty="0" err="1"/>
              <a:t>titulado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excepcionalmente</a:t>
            </a:r>
            <a:r>
              <a:rPr dirty="0"/>
              <a:t> </a:t>
            </a:r>
            <a:r>
              <a:rPr dirty="0" err="1"/>
              <a:t>rápidos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únicos</a:t>
            </a:r>
            <a:r>
              <a:rPr dirty="0"/>
              <a:t> que </a:t>
            </a:r>
            <a:r>
              <a:rPr dirty="0" err="1"/>
              <a:t>alcanzaron</a:t>
            </a:r>
            <a:r>
              <a:rPr dirty="0"/>
              <a:t> a</a:t>
            </a:r>
          </a:p>
          <a:p>
            <a:r>
              <a:rPr dirty="0" err="1"/>
              <a:t>hacerlo</a:t>
            </a:r>
            <a:r>
              <a:rPr dirty="0"/>
              <a:t>. De las </a:t>
            </a:r>
            <a:r>
              <a:rPr dirty="0" err="1"/>
              <a:t>cohortes</a:t>
            </a:r>
            <a:r>
              <a:rPr dirty="0"/>
              <a:t> </a:t>
            </a:r>
            <a:r>
              <a:rPr dirty="0" err="1"/>
              <a:t>antiguas</a:t>
            </a:r>
            <a:r>
              <a:rPr dirty="0"/>
              <a:t>,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cambio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que </a:t>
            </a:r>
            <a:r>
              <a:rPr dirty="0" err="1"/>
              <a:t>aparecen</a:t>
            </a:r>
            <a:r>
              <a:rPr dirty="0"/>
              <a:t>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extremadamente</a:t>
            </a:r>
            <a:endParaRPr dirty="0"/>
          </a:p>
          <a:p>
            <a:r>
              <a:rPr dirty="0" err="1"/>
              <a:t>rezagados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Ninguna</a:t>
            </a:r>
            <a:r>
              <a:rPr dirty="0"/>
              <a:t> </a:t>
            </a:r>
            <a:r>
              <a:rPr dirty="0" err="1"/>
              <a:t>cohorte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completa</a:t>
            </a:r>
            <a:r>
              <a:rPr dirty="0"/>
              <a:t>, y lo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direcciones</a:t>
            </a:r>
            <a:r>
              <a:rPr dirty="0"/>
              <a:t> </a:t>
            </a:r>
            <a:r>
              <a:rPr dirty="0" err="1"/>
              <a:t>opuestas</a:t>
            </a:r>
            <a:r>
              <a:rPr dirty="0"/>
              <a:t>. Por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descenso</a:t>
            </a:r>
            <a:endParaRPr dirty="0"/>
          </a:p>
          <a:p>
            <a:r>
              <a:rPr dirty="0"/>
              <a:t>de la </a:t>
            </a:r>
            <a:r>
              <a:rPr dirty="0" err="1"/>
              <a:t>serie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2024 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leerse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mejora</a:t>
            </a:r>
            <a:r>
              <a:rPr dirty="0"/>
              <a:t> del </a:t>
            </a:r>
            <a:r>
              <a:rPr dirty="0" err="1"/>
              <a:t>sistema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limitación</a:t>
            </a:r>
            <a:r>
              <a:rPr dirty="0"/>
              <a:t> de</a:t>
            </a:r>
          </a:p>
          <a:p>
            <a:r>
              <a:rPr dirty="0"/>
              <a:t>la </a:t>
            </a:r>
            <a:r>
              <a:rPr dirty="0" err="1"/>
              <a:t>fuente</a:t>
            </a:r>
            <a:r>
              <a:rPr dirty="0"/>
              <a:t>, no del </a:t>
            </a:r>
            <a:r>
              <a:rPr dirty="0" err="1"/>
              <a:t>procesamiento</a:t>
            </a:r>
            <a:r>
              <a:rPr dirty="0"/>
              <a:t>, y </a:t>
            </a:r>
            <a:r>
              <a:rPr dirty="0" err="1"/>
              <a:t>declararla</a:t>
            </a:r>
            <a:r>
              <a:rPr dirty="0"/>
              <a:t> es </a:t>
            </a:r>
            <a:r>
              <a:rPr dirty="0" err="1"/>
              <a:t>parte</a:t>
            </a:r>
            <a:r>
              <a:rPr dirty="0"/>
              <a:t> del </a:t>
            </a:r>
            <a:r>
              <a:rPr dirty="0" err="1"/>
              <a:t>resultado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 </a:t>
            </a:r>
            <a:r>
              <a:rPr dirty="0" err="1"/>
              <a:t>tiene</a:t>
            </a:r>
            <a:r>
              <a:rPr dirty="0"/>
              <a:t> 73 </a:t>
            </a:r>
            <a:r>
              <a:rPr dirty="0" err="1"/>
              <a:t>pruebas</a:t>
            </a:r>
            <a:r>
              <a:rPr dirty="0"/>
              <a:t> </a:t>
            </a:r>
            <a:r>
              <a:rPr dirty="0" err="1"/>
              <a:t>automatizadas</a:t>
            </a:r>
            <a:r>
              <a:rPr dirty="0"/>
              <a:t> que </a:t>
            </a:r>
            <a:r>
              <a:rPr dirty="0" err="1"/>
              <a:t>cubren</a:t>
            </a:r>
            <a:r>
              <a:rPr dirty="0"/>
              <a:t> </a:t>
            </a:r>
            <a:r>
              <a:rPr dirty="0" err="1"/>
              <a:t>casos</a:t>
            </a:r>
            <a:endParaRPr dirty="0"/>
          </a:p>
          <a:p>
            <a:r>
              <a:rPr dirty="0" err="1"/>
              <a:t>normales</a:t>
            </a:r>
            <a:r>
              <a:rPr dirty="0"/>
              <a:t>, </a:t>
            </a:r>
            <a:r>
              <a:rPr dirty="0" err="1"/>
              <a:t>límite</a:t>
            </a:r>
            <a:r>
              <a:rPr dirty="0"/>
              <a:t> y </a:t>
            </a:r>
            <a:r>
              <a:rPr dirty="0" err="1"/>
              <a:t>excepciones</a:t>
            </a:r>
            <a:r>
              <a:rPr dirty="0"/>
              <a:t>, y 9 </a:t>
            </a:r>
            <a:r>
              <a:rPr dirty="0" err="1"/>
              <a:t>reglas</a:t>
            </a:r>
            <a:r>
              <a:rPr dirty="0"/>
              <a:t> de </a:t>
            </a:r>
            <a:r>
              <a:rPr dirty="0" err="1"/>
              <a:t>coherencia</a:t>
            </a:r>
            <a:r>
              <a:rPr dirty="0"/>
              <a:t> del </a:t>
            </a:r>
            <a:r>
              <a:rPr dirty="0" err="1"/>
              <a:t>dominio</a:t>
            </a:r>
            <a:r>
              <a:rPr dirty="0"/>
              <a:t>, </a:t>
            </a:r>
            <a:r>
              <a:rPr dirty="0" err="1"/>
              <a:t>todas</a:t>
            </a:r>
            <a:r>
              <a:rPr dirty="0"/>
              <a:t> </a:t>
            </a:r>
            <a:r>
              <a:rPr dirty="0" err="1"/>
              <a:t>aprobadas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Los </a:t>
            </a:r>
            <a:r>
              <a:rPr dirty="0" err="1"/>
              <a:t>algoritmos</a:t>
            </a:r>
            <a:r>
              <a:rPr dirty="0"/>
              <a:t> se </a:t>
            </a:r>
            <a:r>
              <a:rPr dirty="0" err="1"/>
              <a:t>implementaron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cero y se </a:t>
            </a:r>
            <a:r>
              <a:rPr dirty="0" err="1"/>
              <a:t>verificaron</a:t>
            </a:r>
            <a:r>
              <a:rPr dirty="0"/>
              <a:t> contra pandas, sorted y</a:t>
            </a:r>
          </a:p>
          <a:p>
            <a:r>
              <a:rPr dirty="0"/>
              <a:t>NumPy ANTES de </a:t>
            </a:r>
            <a:r>
              <a:rPr dirty="0" err="1"/>
              <a:t>medir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: </a:t>
            </a:r>
            <a:r>
              <a:rPr dirty="0" err="1"/>
              <a:t>medir</a:t>
            </a:r>
            <a:r>
              <a:rPr dirty="0"/>
              <a:t>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incorrecto</a:t>
            </a:r>
            <a:r>
              <a:rPr dirty="0"/>
              <a:t> no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Las curvas log-log </a:t>
            </a:r>
            <a:r>
              <a:rPr dirty="0" err="1"/>
              <a:t>confirmaron</a:t>
            </a:r>
            <a:r>
              <a:rPr dirty="0"/>
              <a:t> las </a:t>
            </a:r>
            <a:r>
              <a:rPr dirty="0" err="1"/>
              <a:t>cotas</a:t>
            </a:r>
            <a:r>
              <a:rPr dirty="0"/>
              <a:t> </a:t>
            </a:r>
            <a:r>
              <a:rPr dirty="0" err="1"/>
              <a:t>teóricas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también</a:t>
            </a:r>
            <a:r>
              <a:rPr dirty="0"/>
              <a:t> </a:t>
            </a:r>
            <a:r>
              <a:rPr dirty="0" err="1"/>
              <a:t>mostraron</a:t>
            </a:r>
            <a:r>
              <a:rPr dirty="0"/>
              <a:t> </a:t>
            </a:r>
            <a:r>
              <a:rPr dirty="0" err="1"/>
              <a:t>dónde</a:t>
            </a:r>
            <a:r>
              <a:rPr dirty="0"/>
              <a:t> la</a:t>
            </a:r>
          </a:p>
          <a:p>
            <a:r>
              <a:rPr dirty="0" err="1"/>
              <a:t>teoría</a:t>
            </a:r>
            <a:r>
              <a:rPr dirty="0"/>
              <a:t> no basta: </a:t>
            </a:r>
            <a:r>
              <a:rPr dirty="0" err="1"/>
              <a:t>quickselect</a:t>
            </a:r>
            <a:r>
              <a:rPr dirty="0"/>
              <a:t> es </a:t>
            </a:r>
            <a:r>
              <a:rPr dirty="0" err="1"/>
              <a:t>orden</a:t>
            </a:r>
            <a:r>
              <a:rPr dirty="0"/>
              <a:t> n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comparaciones</a:t>
            </a:r>
            <a:r>
              <a:rPr dirty="0"/>
              <a:t> y sin embargo </a:t>
            </a:r>
            <a:r>
              <a:rPr dirty="0" err="1"/>
              <a:t>escala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n</a:t>
            </a:r>
          </a:p>
          <a:p>
            <a:r>
              <a:rPr dirty="0" err="1"/>
              <a:t>elevado</a:t>
            </a:r>
            <a:r>
              <a:rPr dirty="0"/>
              <a:t> a 1,22,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nivel</a:t>
            </a:r>
            <a:r>
              <a:rPr dirty="0"/>
              <a:t> de </a:t>
            </a:r>
            <a:r>
              <a:rPr dirty="0" err="1"/>
              <a:t>recursión</a:t>
            </a:r>
            <a:r>
              <a:rPr dirty="0"/>
              <a:t> </a:t>
            </a:r>
            <a:r>
              <a:rPr dirty="0" err="1"/>
              <a:t>asigna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listas</a:t>
            </a:r>
            <a:r>
              <a:rPr dirty="0"/>
              <a:t> </a:t>
            </a:r>
            <a:r>
              <a:rPr dirty="0" err="1"/>
              <a:t>nuevas</a:t>
            </a:r>
            <a:r>
              <a:rPr dirty="0"/>
              <a:t>. La </a:t>
            </a:r>
            <a:r>
              <a:rPr dirty="0" err="1"/>
              <a:t>cota</a:t>
            </a:r>
            <a:endParaRPr dirty="0"/>
          </a:p>
          <a:p>
            <a:r>
              <a:rPr dirty="0"/>
              <a:t>describe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crecimiento</a:t>
            </a:r>
            <a:r>
              <a:rPr dirty="0"/>
              <a:t>, no la </a:t>
            </a:r>
            <a:r>
              <a:rPr dirty="0" err="1"/>
              <a:t>constante</a:t>
            </a:r>
            <a:r>
              <a:rPr dirty="0"/>
              <a:t>. Ese </a:t>
            </a:r>
            <a:r>
              <a:rPr dirty="0" err="1"/>
              <a:t>contraste</a:t>
            </a:r>
            <a:r>
              <a:rPr dirty="0"/>
              <a:t> </a:t>
            </a:r>
            <a:r>
              <a:rPr dirty="0" err="1"/>
              <a:t>fue</a:t>
            </a:r>
            <a:r>
              <a:rPr dirty="0"/>
              <a:t> uno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aprendizajes</a:t>
            </a:r>
            <a:endParaRPr dirty="0"/>
          </a:p>
          <a:p>
            <a:r>
              <a:rPr dirty="0" err="1"/>
              <a:t>centrales</a:t>
            </a:r>
            <a:r>
              <a:rPr dirty="0"/>
              <a:t> del </a:t>
            </a:r>
            <a:r>
              <a:rPr dirty="0" err="1"/>
              <a:t>curso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En </a:t>
            </a:r>
            <a:r>
              <a:rPr dirty="0" err="1"/>
              <a:t>síntesis</a:t>
            </a:r>
            <a:r>
              <a:rPr dirty="0"/>
              <a:t>, cuatro </a:t>
            </a:r>
            <a:r>
              <a:rPr dirty="0" err="1"/>
              <a:t>conclusiones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rezago</a:t>
            </a:r>
            <a:r>
              <a:rPr dirty="0"/>
              <a:t> es </a:t>
            </a:r>
            <a:r>
              <a:rPr dirty="0" err="1"/>
              <a:t>masivo</a:t>
            </a:r>
            <a:r>
              <a:rPr dirty="0"/>
              <a:t> y </a:t>
            </a:r>
            <a:r>
              <a:rPr dirty="0" err="1"/>
              <a:t>estructural</a:t>
            </a:r>
            <a:r>
              <a:rPr dirty="0"/>
              <a:t>, no </a:t>
            </a:r>
            <a:r>
              <a:rPr dirty="0" err="1"/>
              <a:t>aleatorio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La pandemia </a:t>
            </a:r>
            <a:r>
              <a:rPr dirty="0" err="1"/>
              <a:t>desplazó</a:t>
            </a:r>
            <a:r>
              <a:rPr dirty="0"/>
              <a:t> </a:t>
            </a:r>
            <a:r>
              <a:rPr dirty="0" err="1"/>
              <a:t>titulaciones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 de </a:t>
            </a:r>
            <a:r>
              <a:rPr dirty="0" err="1"/>
              <a:t>empeorarlas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Los </a:t>
            </a:r>
            <a:r>
              <a:rPr dirty="0" err="1"/>
              <a:t>registros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no </a:t>
            </a:r>
            <a:r>
              <a:rPr dirty="0" err="1"/>
              <a:t>explican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caso</a:t>
            </a:r>
            <a:r>
              <a:rPr dirty="0"/>
              <a:t> individual: </a:t>
            </a:r>
            <a:r>
              <a:rPr dirty="0" err="1"/>
              <a:t>el</a:t>
            </a:r>
            <a:r>
              <a:rPr dirty="0"/>
              <a:t> R </a:t>
            </a:r>
            <a:r>
              <a:rPr dirty="0" err="1"/>
              <a:t>cuadrado</a:t>
            </a:r>
            <a:r>
              <a:rPr dirty="0"/>
              <a:t> es de 0 coma</a:t>
            </a:r>
          </a:p>
          <a:p>
            <a:r>
              <a:rPr dirty="0"/>
              <a:t>085 y la </a:t>
            </a:r>
            <a:r>
              <a:rPr dirty="0" err="1"/>
              <a:t>clasificación</a:t>
            </a:r>
            <a:r>
              <a:rPr dirty="0"/>
              <a:t> no </a:t>
            </a:r>
            <a:r>
              <a:rPr dirty="0" err="1"/>
              <a:t>supera</a:t>
            </a:r>
            <a:r>
              <a:rPr dirty="0"/>
              <a:t> a </a:t>
            </a:r>
            <a:r>
              <a:rPr dirty="0" err="1"/>
              <a:t>predecir</a:t>
            </a:r>
            <a:r>
              <a:rPr dirty="0"/>
              <a:t> </a:t>
            </a:r>
            <a:r>
              <a:rPr dirty="0" err="1"/>
              <a:t>siempre</a:t>
            </a:r>
            <a:r>
              <a:rPr dirty="0"/>
              <a:t> la </a:t>
            </a:r>
            <a:r>
              <a:rPr dirty="0" err="1"/>
              <a:t>clase</a:t>
            </a:r>
            <a:r>
              <a:rPr dirty="0"/>
              <a:t> </a:t>
            </a:r>
            <a:r>
              <a:rPr dirty="0" err="1"/>
              <a:t>mayoritaria</a:t>
            </a:r>
            <a:r>
              <a:rPr dirty="0"/>
              <a:t>. </a:t>
            </a:r>
            <a:r>
              <a:rPr dirty="0" err="1"/>
              <a:t>Eso</a:t>
            </a:r>
            <a:r>
              <a:rPr dirty="0"/>
              <a:t> no es un</a:t>
            </a:r>
          </a:p>
          <a:p>
            <a:r>
              <a:rPr dirty="0" err="1"/>
              <a:t>fracaso</a:t>
            </a:r>
            <a:r>
              <a:rPr dirty="0"/>
              <a:t> del </a:t>
            </a:r>
            <a:r>
              <a:rPr dirty="0" err="1"/>
              <a:t>modelo</a:t>
            </a:r>
            <a:r>
              <a:rPr dirty="0"/>
              <a:t>, es un </a:t>
            </a:r>
            <a:r>
              <a:rPr dirty="0" err="1"/>
              <a:t>resultado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rezago</a:t>
            </a:r>
            <a:r>
              <a:rPr dirty="0"/>
              <a:t> </a:t>
            </a:r>
            <a:r>
              <a:rPr dirty="0" err="1"/>
              <a:t>depende</a:t>
            </a:r>
            <a:r>
              <a:rPr dirty="0"/>
              <a:t> de </a:t>
            </a:r>
            <a:r>
              <a:rPr dirty="0" err="1"/>
              <a:t>trayectorias</a:t>
            </a:r>
            <a:r>
              <a:rPr dirty="0"/>
              <a:t> </a:t>
            </a:r>
            <a:r>
              <a:rPr dirty="0" err="1"/>
              <a:t>personales</a:t>
            </a:r>
            <a:r>
              <a:rPr dirty="0"/>
              <a:t> que</a:t>
            </a:r>
          </a:p>
          <a:p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fuente</a:t>
            </a:r>
            <a:r>
              <a:rPr dirty="0"/>
              <a:t> no </a:t>
            </a:r>
            <a:r>
              <a:rPr dirty="0" err="1"/>
              <a:t>registra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Y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 es reproducible: cuatro </a:t>
            </a:r>
            <a:r>
              <a:rPr dirty="0" err="1"/>
              <a:t>comandos</a:t>
            </a:r>
            <a:r>
              <a:rPr dirty="0"/>
              <a:t> lo </a:t>
            </a:r>
            <a:r>
              <a:rPr dirty="0" err="1"/>
              <a:t>instalan</a:t>
            </a:r>
            <a:r>
              <a:rPr dirty="0"/>
              <a:t> y </a:t>
            </a:r>
            <a:r>
              <a:rPr dirty="0" err="1"/>
              <a:t>ejecutan</a:t>
            </a:r>
            <a:r>
              <a:rPr dirty="0"/>
              <a:t>, con 45</a:t>
            </a:r>
          </a:p>
          <a:p>
            <a:r>
              <a:rPr dirty="0"/>
              <a:t>commits </a:t>
            </a:r>
            <a:r>
              <a:rPr dirty="0" err="1"/>
              <a:t>verificables</a:t>
            </a:r>
            <a:r>
              <a:rPr dirty="0"/>
              <a:t> y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cifra</a:t>
            </a:r>
            <a:r>
              <a:rPr dirty="0"/>
              <a:t> </a:t>
            </a:r>
            <a:r>
              <a:rPr dirty="0" err="1"/>
              <a:t>rastreable</a:t>
            </a:r>
            <a:r>
              <a:rPr dirty="0"/>
              <a:t> hasta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archivo</a:t>
            </a:r>
            <a:r>
              <a:rPr dirty="0"/>
              <a:t> que la </a:t>
            </a:r>
            <a:r>
              <a:rPr dirty="0" err="1"/>
              <a:t>generó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Lo que </a:t>
            </a:r>
            <a:r>
              <a:rPr dirty="0" err="1"/>
              <a:t>queda</a:t>
            </a:r>
            <a:r>
              <a:rPr dirty="0"/>
              <a:t> para </a:t>
            </a:r>
            <a:r>
              <a:rPr dirty="0" err="1"/>
              <a:t>seguir</a:t>
            </a:r>
            <a:r>
              <a:rPr dirty="0"/>
              <a:t>: </a:t>
            </a:r>
            <a:r>
              <a:rPr dirty="0" err="1"/>
              <a:t>incorporar</a:t>
            </a:r>
            <a:r>
              <a:rPr dirty="0"/>
              <a:t> la base de </a:t>
            </a:r>
            <a:r>
              <a:rPr dirty="0" err="1"/>
              <a:t>matrícula</a:t>
            </a:r>
            <a:r>
              <a:rPr dirty="0"/>
              <a:t> para </a:t>
            </a:r>
            <a:r>
              <a:rPr dirty="0" err="1"/>
              <a:t>ver</a:t>
            </a:r>
            <a:r>
              <a:rPr dirty="0"/>
              <a:t> la </a:t>
            </a:r>
            <a:r>
              <a:rPr dirty="0" err="1"/>
              <a:t>deserción</a:t>
            </a:r>
            <a:r>
              <a:rPr dirty="0"/>
              <a:t>, que hoy</a:t>
            </a:r>
          </a:p>
          <a:p>
            <a:r>
              <a:rPr dirty="0"/>
              <a:t>es invisible; usar </a:t>
            </a:r>
            <a:r>
              <a:rPr dirty="0" err="1"/>
              <a:t>modelos</a:t>
            </a:r>
            <a:r>
              <a:rPr dirty="0"/>
              <a:t> de </a:t>
            </a:r>
            <a:r>
              <a:rPr dirty="0" err="1"/>
              <a:t>supervivencia</a:t>
            </a:r>
            <a:r>
              <a:rPr dirty="0"/>
              <a:t>, que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adecuados</a:t>
            </a:r>
            <a:r>
              <a:rPr dirty="0"/>
              <a:t> para </a:t>
            </a:r>
            <a:r>
              <a:rPr dirty="0" err="1"/>
              <a:t>datos</a:t>
            </a:r>
            <a:endParaRPr dirty="0"/>
          </a:p>
          <a:p>
            <a:r>
              <a:rPr dirty="0" err="1"/>
              <a:t>censurados</a:t>
            </a:r>
            <a:r>
              <a:rPr dirty="0"/>
              <a:t>; y </a:t>
            </a:r>
            <a:r>
              <a:rPr dirty="0" err="1"/>
              <a:t>ampliar</a:t>
            </a:r>
            <a:r>
              <a:rPr dirty="0"/>
              <a:t> las variables </a:t>
            </a:r>
            <a:r>
              <a:rPr dirty="0" err="1"/>
              <a:t>hacia</a:t>
            </a:r>
            <a:r>
              <a:rPr dirty="0"/>
              <a:t> la </a:t>
            </a:r>
            <a:r>
              <a:rPr dirty="0" err="1"/>
              <a:t>trayectoria</a:t>
            </a:r>
            <a:r>
              <a:rPr dirty="0"/>
              <a:t> individual.</a:t>
            </a:r>
          </a:p>
          <a:p>
            <a:endParaRPr dirty="0"/>
          </a:p>
          <a:p>
            <a:r>
              <a:rPr dirty="0"/>
              <a:t>El </a:t>
            </a:r>
            <a:r>
              <a:rPr dirty="0" err="1"/>
              <a:t>repositorio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disponible </a:t>
            </a:r>
            <a:r>
              <a:rPr dirty="0" err="1"/>
              <a:t>en</a:t>
            </a:r>
            <a:r>
              <a:rPr dirty="0"/>
              <a:t> GitHub. </a:t>
            </a:r>
            <a:r>
              <a:rPr dirty="0" err="1"/>
              <a:t>Muchas</a:t>
            </a:r>
            <a:r>
              <a:rPr dirty="0"/>
              <a:t>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CUATRO DE CADA CINCO EGRESAN FUERA DE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fig1_magnit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0860" y="3154680"/>
            <a:ext cx="4770280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DERECHO TRIPLICA A EDUCACIÓN</a:t>
            </a:r>
          </a:p>
        </p:txBody>
      </p:sp>
      <p:pic>
        <p:nvPicPr>
          <p:cNvPr id="15" name="Picture 14" descr="f4_fig2_fac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968" y="1645920"/>
            <a:ext cx="4894063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Casi cuatro semestres separan los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extremos del ranking de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TITULACIONES, NO LAS EMPEORÓ</a:t>
            </a:r>
          </a:p>
        </p:txBody>
      </p:sp>
      <p:pic>
        <p:nvPicPr>
          <p:cNvPr id="15" name="Picture 14" descr="f4_fig3_evolu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9283" y="1600200"/>
            <a:ext cx="579343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NINGUNA COHORTE ESTÁ COMPLETA</a:t>
            </a:r>
          </a:p>
        </p:txBody>
      </p:sp>
      <p:pic>
        <p:nvPicPr>
          <p:cNvPr id="15" name="Picture 14" descr="f4_fig4_truncami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347" y="1600200"/>
            <a:ext cx="5389305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45 commits con historial verificable y cada cifra rastreable a su archivo.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2261</TotalTime>
  <Words>1855</Words>
  <Application>Microsoft Office PowerPoint</Application>
  <PresentationFormat>Widescreen</PresentationFormat>
  <Paragraphs>222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Consolas</vt:lpstr>
      <vt:lpstr>Montserrat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ANTUNEZ NOGUERA SEBASTIAN H</cp:lastModifiedBy>
  <cp:revision>32</cp:revision>
  <dcterms:created xsi:type="dcterms:W3CDTF">2023-10-13T18:05:47Z</dcterms:created>
  <dcterms:modified xsi:type="dcterms:W3CDTF">2026-10-01T17:13:34Z</dcterms:modified>
  <cp:category/>
</cp:coreProperties>
</file>