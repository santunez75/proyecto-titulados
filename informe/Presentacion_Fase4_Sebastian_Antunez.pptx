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9"/>
  </p:notesMasterIdLst>
  <p:sldIdLst>
    <p:sldId id="2076137175" r:id="rId2"/>
    <p:sldId id="2076137361" r:id="rId15"/>
    <p:sldId id="2076137362" r:id="rId16"/>
    <p:sldId id="2076137363" r:id="rId17"/>
    <p:sldId id="2076137364" r:id="rId18"/>
    <p:sldId id="2076137365" r:id="rId19"/>
    <p:sldId id="2076137366" r:id="rId20"/>
    <p:sldId id="2076137367" r:id="rId21"/>
    <p:sldId id="2076137368" r:id="rId22"/>
    <p:sldId id="207613735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B1660F4-BA9A-82B8-C334-CF91C75A5656}" name="Ruth Marcela Espinosa Sarmiento" initials="RS" userId="S::ruth.espinosa@unab.cl::2acad1b5-36c7-4a86-bd14-a01055d811d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36D"/>
    <a:srgbClr val="B63C0F"/>
    <a:srgbClr val="A4C93C"/>
    <a:srgbClr val="01BF9F"/>
    <a:srgbClr val="4A7AEB"/>
    <a:srgbClr val="00644F"/>
    <a:srgbClr val="40306E"/>
    <a:srgbClr val="41BBD2"/>
    <a:srgbClr val="43546A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Estilo claro 3 - Acento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850"/>
    <p:restoredTop sz="94674"/>
  </p:normalViewPr>
  <p:slideViewPr>
    <p:cSldViewPr snapToGrid="0">
      <p:cViewPr>
        <p:scale>
          <a:sx n="90" d="100"/>
          <a:sy n="90" d="100"/>
        </p:scale>
        <p:origin x="2216" y="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8/10/relationships/authors" Target="authors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B2D6A-D10B-4950-84AB-B76A76B41051}" type="datetimeFigureOut">
              <a:t>06-07-26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2D85B4-8D15-40BA-BE63-8F85761BC2A6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26282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[0:00 - 0:20 · 20 s]</a:t>
            </a:r>
          </a:p>
          <a:p/>
          <a:p>
            <a:r>
              <a:t>Buenos días. Mi nombre es Sebastian Antunez y voy a presentar el proyecto final del</a:t>
            </a:r>
          </a:p>
          <a:p>
            <a:r>
              <a:t>curso Programación para la Ciencia de Datos: un análisis sobre la sobreduración en la</a:t>
            </a:r>
          </a:p>
          <a:p>
            <a:r>
              <a:t>titulación de la educación superior chilena, construido sobre 1.246.760 procesos de</a:t>
            </a:r>
          </a:p>
          <a:p>
            <a:r>
              <a:t>titulación reales entre 2020 y 2025.</a:t>
            </a:r>
          </a:p>
          <a:p/>
          <a:p>
            <a:r>
              <a:t>RECORDAR: hablar más lento de lo que parece natural; en grabación siempre suena más rápido.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[0:20 - 1:10 · 50 s]</a:t>
            </a:r>
          </a:p>
          <a:p/>
          <a:p>
            <a:r>
              <a:t>Cada carrera en Chile declara una duración teórica. Sobre esa cifra se calculan la</a:t>
            </a:r>
          </a:p>
          <a:p>
            <a:r>
              <a:t>duración de las becas y los créditos estatales.</a:t>
            </a:r>
          </a:p>
          <a:p/>
          <a:p>
            <a:r>
              <a:t>Lo que el sistema no publica es cuánto se tarda en realidad. Y aquí está el punto de</a:t>
            </a:r>
          </a:p>
          <a:p>
            <a:r>
              <a:t>partida: al revisar el esquema oficial del SIES descubrí que las columnas que parecían</a:t>
            </a:r>
          </a:p>
          <a:p>
            <a:r>
              <a:t>tener la respuesta NO registran lo que el estudiante tardó, sino lo que el plan declara.</a:t>
            </a:r>
          </a:p>
          <a:p>
            <a:r>
              <a:t>Son un atributo de la carrera, no de la persona.</a:t>
            </a:r>
          </a:p>
          <a:p/>
          <a:p>
            <a:r>
              <a:t>Así que la pregunta fue: se puede reconstruir la duración real desde los registros</a:t>
            </a:r>
          </a:p>
          <a:p>
            <a:r>
              <a:t>administrativos, y caracterizar el rezago con esa variable derivada.</a:t>
            </a:r>
          </a:p>
          <a:p/>
          <a:p>
            <a:r>
              <a:t>PAUSA de medio segundo antes de avanzar: es la bisagra del relato.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[1:10 - 2:10 · 60 s]</a:t>
            </a:r>
          </a:p>
          <a:p/>
          <a:p>
            <a:r>
              <a:t>El proyecto se desarrolló en cuatro fases. La primera definió el problema y levantó el</a:t>
            </a:r>
          </a:p>
          <a:p>
            <a:r>
              <a:t>entorno reproducible. La segunda construyó el pipeline que convierte 955 megabytes de</a:t>
            </a:r>
          </a:p>
          <a:p>
            <a:r>
              <a:t>archivos crudos en un conjunto analítico validado. La tercera implementó el núcleo</a:t>
            </a:r>
          </a:p>
          <a:p>
            <a:r>
              <a:t>algorítmico desde primeros principios, con medición formal de complejidad y un modelo de</a:t>
            </a:r>
          </a:p>
          <a:p>
            <a:r>
              <a:t>dominio orientado a objetos. Y la cuarta, que es la que presento, ejecuta todo eso de</a:t>
            </a:r>
          </a:p>
          <a:p>
            <a:r>
              <a:t>extremo a extremo.</a:t>
            </a:r>
          </a:p>
          <a:p/>
          <a:p>
            <a:r>
              <a:t>La transformación central está abajo: la duración real se deriva del año y semestre de</a:t>
            </a:r>
          </a:p>
          <a:p>
            <a:r>
              <a:t>ingreso y de titulación. El "más uno" no es arbitrario: quien ingresa y se titula en el</a:t>
            </a:r>
          </a:p>
          <a:p>
            <a:r>
              <a:t>mismo semestre cursó un semestre, no cero. Esa coherencia aritmética se verifica como</a:t>
            </a:r>
          </a:p>
          <a:p>
            <a:r>
              <a:t>regla de validación sobre el dataset completo.</a:t>
            </a:r>
          </a:p>
          <a:p/>
          <a:p>
            <a:r>
              <a:t>SI EL VIDEO VA CORTO, agregar aquí: el pipeline retiene el 72,9 por ciento de las filas</a:t>
            </a:r>
          </a:p>
          <a:p>
            <a:r>
              <a:t>originales y cada exclusión está cuantificada en una bitácora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[2:10 - 3:05 · 55 s]</a:t>
            </a:r>
          </a:p>
          <a:p/>
          <a:p>
            <a:r>
              <a:t>Este es el resultado central. Solo el 19 por ciento de los titulados egresa dentro del</a:t>
            </a:r>
          </a:p>
          <a:p>
            <a:r>
              <a:t>plazo que su propio plan declara. Dicho al revés: cuatro de cada cinco se titulan fuera</a:t>
            </a:r>
          </a:p>
          <a:p>
            <a:r>
              <a:t>de plazo.</a:t>
            </a:r>
          </a:p>
          <a:p/>
          <a:p>
            <a:r>
              <a:t>El exceso promedio es de 2 coma 76 semestres, un 43 por ciento más de tiempo del</a:t>
            </a:r>
          </a:p>
          <a:p>
            <a:r>
              <a:t>previsto. Y el rezago severo, más de cuatro semestres de exceso, alcanza al 20 coma 4</a:t>
            </a:r>
          </a:p>
          <a:p>
            <a:r>
              <a:t>por ciento: prácticamente la misma proporción que logra titularse a tiempo.</a:t>
            </a:r>
          </a:p>
          <a:p/>
          <a:p>
            <a:r>
              <a:t>Agregado, el sistema acumula 3 coma 55 millones de semestres-estudiante por sobre lo</a:t>
            </a:r>
          </a:p>
          <a:p>
            <a:r>
              <a:t>planificado en el período.</a:t>
            </a:r>
          </a:p>
          <a:p/>
          <a:p>
            <a:r>
              <a:t>El gráfico de la izquierda muestra por qué reporto media y mediana: la distribución es</a:t>
            </a:r>
          </a:p>
          <a:p>
            <a:r>
              <a:t>asimétrica, con una cola larga que arrastra el promedio.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[3:05 - 4:05 · 60 s]</a:t>
            </a:r>
          </a:p>
          <a:p/>
          <a:p>
            <a:r>
              <a:t>El rezago tampoco se reparte de forma pareja.</a:t>
            </a:r>
          </a:p>
          <a:p/>
          <a:p>
            <a:r>
              <a:t>Por área de conocimiento, Derecho triplica a Educación: 5,77 semestres frente a 1,93.</a:t>
            </a:r>
          </a:p>
          <a:p>
            <a:r>
              <a:t>Casi cuatro semestres, dos años, separan a la carrera más rezagada de la menos rezagada.</a:t>
            </a:r>
          </a:p>
          <a:p/>
          <a:p>
            <a:r>
              <a:t>Por tipo de institución, las universidades acumulan más rezago que los institutos</a:t>
            </a:r>
          </a:p>
          <a:p>
            <a:r>
              <a:t>profesionales y su tasa de titulación oportuna es menos de la mitad. Eso sugiere que la</a:t>
            </a:r>
          </a:p>
          <a:p>
            <a:r>
              <a:t>duración declarada es menos realista en carreras universitarias largas.</a:t>
            </a:r>
          </a:p>
          <a:p/>
          <a:p>
            <a:r>
              <a:t>Y por género, las mujeres se titulan 0 coma 93 semestres antes. Lo importante del panel</a:t>
            </a:r>
          </a:p>
          <a:p>
            <a:r>
              <a:t>derecho es que la brecha se sostiene en las diez áreas sin excepción: no es que estudien</a:t>
            </a:r>
          </a:p>
          <a:p>
            <a:r>
              <a:t>carreras más cortas, es que dentro de cada área se titulan 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[4:05 - 4:55 · 50 s]</a:t>
            </a:r>
          </a:p>
          <a:p/>
          <a:p>
            <a:r>
              <a:t>Este hallazgo no estaba en ninguna de las fases anteriores; apareció al mirar la serie</a:t>
            </a:r>
          </a:p>
          <a:p>
            <a:r>
              <a:t>semestral en vez del promedio agregado.</a:t>
            </a:r>
          </a:p>
          <a:p/>
          <a:p>
            <a:r>
              <a:t>En 2020 se titularon unas 87 mil personas menos que en un año normal, y la sobreduración</a:t>
            </a:r>
          </a:p>
          <a:p>
            <a:r>
              <a:t>media tocó su mínimo. En 2021 el volumen se recuperó y la sobreduración alcanzó su</a:t>
            </a:r>
          </a:p>
          <a:p>
            <a:r>
              <a:t>máximo.</a:t>
            </a:r>
          </a:p>
          <a:p/>
          <a:p>
            <a:r>
              <a:t>La tentación es decir que 2020 fue un buen año. Pero no: las titulaciones se</a:t>
            </a:r>
          </a:p>
          <a:p>
            <a:r>
              <a:t>POSTERGARON. Quienes debían egresar en 2020 lo hicieron en 2021, con uno o dos semestres</a:t>
            </a:r>
          </a:p>
          <a:p>
            <a:r>
              <a:t>adicionales encima. El mínimo y el máximo son el mismo fenómeno visto en dos momentos, y</a:t>
            </a:r>
          </a:p>
          <a:p>
            <a:r>
              <a:t>el mecanismo es de desplazamiento administrativo, no de deterioro académico.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[4:55 - 5:35 · 40 s]</a:t>
            </a:r>
          </a:p>
          <a:p/>
          <a:p>
            <a:r>
              <a:t>Y aquí una limitación que condiciona todo lo anterior, y que creo que es uno de los</a:t>
            </a:r>
          </a:p>
          <a:p>
            <a:r>
              <a:t>resultados más valiosos del proyecto.</a:t>
            </a:r>
          </a:p>
          <a:p/>
          <a:p>
            <a:r>
              <a:t>Una base de titulados solo contiene a quien terminó. De las cohortes recientes solo se</a:t>
            </a:r>
          </a:p>
          <a:p>
            <a:r>
              <a:t>han titulado los excepcionalmente rápidos, porque son los únicos que alcanzaron a</a:t>
            </a:r>
          </a:p>
          <a:p>
            <a:r>
              <a:t>hacerlo. De las cohortes antiguas, en cambio, los que aparecen son los extremadamente</a:t>
            </a:r>
          </a:p>
          <a:p>
            <a:r>
              <a:t>rezagados.</a:t>
            </a:r>
          </a:p>
          <a:p/>
          <a:p>
            <a:r>
              <a:t>Ninguna cohorte está completa, y lo están en direcciones opuestas. Por eso el descenso</a:t>
            </a:r>
          </a:p>
          <a:p>
            <a:r>
              <a:t>de la serie desde 2024 no puede leerse como una mejora del sistema. Es una limitación de</a:t>
            </a:r>
          </a:p>
          <a:p>
            <a:r>
              <a:t>la fuente, no del procesamiento, y declararla es parte del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[5:35 - 6:15 · 40 s]</a:t>
            </a:r>
          </a:p>
          <a:p/>
          <a:p>
            <a:r>
              <a:t>Sobre el trabajo técnico: el proyecto tiene 73 pruebas automatizadas que cubren casos</a:t>
            </a:r>
          </a:p>
          <a:p>
            <a:r>
              <a:t>normales, límite y excepciones, y 9 reglas de coherencia del dominio, todas aprobadas.</a:t>
            </a:r>
          </a:p>
          <a:p/>
          <a:p>
            <a:r>
              <a:t>Los algoritmos se implementaron desde cero y se verificaron contra pandas, sorted y</a:t>
            </a:r>
          </a:p>
          <a:p>
            <a:r>
              <a:t>NumPy ANTES de medir su tiempo: medir un algoritmo incorrecto no tiene sentido.</a:t>
            </a:r>
          </a:p>
          <a:p/>
          <a:p>
            <a:r>
              <a:t>Las curvas log-log confirmaron las cotas teóricas, pero también mostraron dónde la</a:t>
            </a:r>
          </a:p>
          <a:p>
            <a:r>
              <a:t>teoría no basta: quickselect es orden n en comparaciones y sin embargo escala como n</a:t>
            </a:r>
          </a:p>
          <a:p>
            <a:r>
              <a:t>elevado a 1,22, porque cada nivel de recursión asigna tres listas nuevas. La cota</a:t>
            </a:r>
          </a:p>
          <a:p>
            <a:r>
              <a:t>describe el crecimiento, no la constante. Ese contraste fue uno de los aprendizajes</a:t>
            </a:r>
          </a:p>
          <a:p>
            <a:r>
              <a:t>centrales del curso.</a:t>
            </a:r>
          </a:p>
          <a:p/>
          <a:p>
            <a:r>
              <a:t>SI EL VIDEO VA LARGO, recortar esta lámina a las dos primeras cifras y omitir el detalle</a:t>
            </a:r>
          </a:p>
          <a:p>
            <a:r>
              <a:t>de quickselect: ahorra unos 20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[6:15 - 6:55 · 40 s]</a:t>
            </a:r>
          </a:p>
          <a:p/>
          <a:p>
            <a:r>
              <a:t>En síntesis, cuatro conclusiones.</a:t>
            </a:r>
          </a:p>
          <a:p/>
          <a:p>
            <a:r>
              <a:t>El rezago es masivo y estructural, no aleatorio.</a:t>
            </a:r>
          </a:p>
          <a:p/>
          <a:p>
            <a:r>
              <a:t>La pandemia desplazó titulaciones en lugar de empeorarlas.</a:t>
            </a:r>
          </a:p>
          <a:p/>
          <a:p>
            <a:r>
              <a:t>Los registros administrativos no explican el caso individual: el R cuadrado es de 0 coma</a:t>
            </a:r>
          </a:p>
          <a:p>
            <a:r>
              <a:t>085 y la clasificación no supera a predecir siempre la clase mayoritaria. Eso no es un</a:t>
            </a:r>
          </a:p>
          <a:p>
            <a:r>
              <a:t>fracaso del modelo, es un resultado: el rezago depende de trayectorias personales que</a:t>
            </a:r>
          </a:p>
          <a:p>
            <a:r>
              <a:t>esta fuente no registra.</a:t>
            </a:r>
          </a:p>
          <a:p/>
          <a:p>
            <a:r>
              <a:t>Y todo el proyecto es reproducible: cuatro comandos lo instalan y ejecutan, con 36</a:t>
            </a:r>
          </a:p>
          <a:p>
            <a:r>
              <a:t>commits verificables y cada cifra rastreable hasta el archivo que la generó.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[6:55 - 7:10 · 15 s]</a:t>
            </a:r>
          </a:p>
          <a:p/>
          <a:p>
            <a:r>
              <a:t>Lo que queda para seguir: incorporar la base de matrícula para ver la deserción, que hoy</a:t>
            </a:r>
          </a:p>
          <a:p>
            <a:r>
              <a:t>es invisible; usar modelos de supervivencia, que son los adecuados para datos</a:t>
            </a:r>
          </a:p>
          <a:p>
            <a:r>
              <a:t>censurados; y ampliar las variables hacia la trayectoria individual.</a:t>
            </a:r>
          </a:p>
          <a:p/>
          <a:p>
            <a:r>
              <a:t>El repositorio completo está disponible en GitHub. Muchas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18768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7784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63483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437286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64894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14832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74201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42401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71960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24430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119240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336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emf"/><Relationship Id="rId4" Type="http://schemas.openxmlformats.org/officeDocument/2006/relationships/notesSlide" Target="../notesSlides/notesSlide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1">
            <a:extLst>
              <a:ext uri="{FF2B5EF4-FFF2-40B4-BE49-F238E27FC236}">
                <a16:creationId xmlns:a16="http://schemas.microsoft.com/office/drawing/2014/main" id="{8261AC4D-D56B-FCD9-2D31-C2C2E0662094}"/>
              </a:ext>
            </a:extLst>
          </p:cNvPr>
          <p:cNvSpPr txBox="1">
            <a:spLocks/>
          </p:cNvSpPr>
          <p:nvPr/>
        </p:nvSpPr>
        <p:spPr>
          <a:xfrm>
            <a:off x="3576953" y="2331720"/>
            <a:ext cx="8757337" cy="1600200"/>
          </a:xfrm>
          <a:prstGeom prst="rect">
            <a:avLst/>
          </a:prstGeom>
        </p:spPr>
        <p:txBody>
          <a:bodyPr vert="horz" lIns="91440" tIns="45720" rIns="91440" bIns="45720" rtlCol="0" anchor="b" wrap="square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000" dirty="0">
                <a:solidFill>
                  <a:srgbClr val="FFFFFF"/>
                </a:solidFill>
                <a:latin typeface="Montserrat" pitchFamily="2" charset="77"/>
                <a:cs typeface="Calibri Light"/>
              </a:rPr>
              <a:t>Sobreduración en la titulación</a:t>
            </a:r>
            <a:endParaRPr lang="es-ES" sz="5400" dirty="0">
              <a:solidFill>
                <a:srgbClr val="FFFFFF"/>
              </a:solidFill>
              <a:latin typeface="Montserrat" pitchFamily="2" charset="77"/>
            </a:endParaRPr>
          </a:p>
          <a:p>
            <a:r>
              <a:rPr lang="es-ES" sz="3000" dirty="0">
                <a:solidFill>
                  <a:srgbClr val="FFFFFF"/>
                </a:solidFill>
                <a:latin typeface="Montserrat" pitchFamily="2" charset="77"/>
                <a:cs typeface="Calibri Light"/>
              </a:rPr>
              <a:t>de la educación superior chilena</a:t>
            </a:r>
            <a:endParaRPr lang="es-ES" sz="5400" dirty="0">
              <a:solidFill>
                <a:srgbClr val="FFFFFF"/>
              </a:solidFill>
              <a:latin typeface="Montserrat" pitchFamily="2" charset="77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944E5F5-76E7-7915-76DC-35DD2BF31062}"/>
              </a:ext>
            </a:extLst>
          </p:cNvPr>
          <p:cNvSpPr/>
          <p:nvPr/>
        </p:nvSpPr>
        <p:spPr>
          <a:xfrm>
            <a:off x="5005973" y="3860501"/>
            <a:ext cx="600010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9CBD3C2B-219F-AC36-606B-A6905CE9EE69}"/>
              </a:ext>
            </a:extLst>
          </p:cNvPr>
          <p:cNvSpPr txBox="1">
            <a:spLocks/>
          </p:cNvSpPr>
          <p:nvPr/>
        </p:nvSpPr>
        <p:spPr>
          <a:xfrm>
            <a:off x="4913505" y="4069080"/>
            <a:ext cx="6613130" cy="109839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500" dirty="0">
                <a:solidFill>
                  <a:srgbClr val="FFFFFF"/>
                </a:solidFill>
                <a:latin typeface="Montserrat" pitchFamily="2" charset="77"/>
                <a:cs typeface="Calibri"/>
              </a:rPr>
              <a:t>Facultad de Ingeniería  |  Magíster en Ciencia de Datos e IA</a:t>
            </a:r>
            <a:endParaRPr lang="es-ES" sz="2300" dirty="0">
              <a:solidFill>
                <a:srgbClr val="FFFFFF"/>
              </a:solidFill>
              <a:latin typeface="Montserrat" pitchFamily="2" charset="77"/>
              <a:ea typeface="Calibri"/>
              <a:cs typeface="Calibri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41860A79-B110-9F78-3978-77AFA70E5855}"/>
              </a:ext>
            </a:extLst>
          </p:cNvPr>
          <p:cNvSpPr txBox="1">
            <a:spLocks/>
          </p:cNvSpPr>
          <p:nvPr/>
        </p:nvSpPr>
        <p:spPr>
          <a:xfrm>
            <a:off x="4910328" y="4709160"/>
            <a:ext cx="5486400" cy="42564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200" dirty="0">
                <a:solidFill>
                  <a:srgbClr val="FFFFFF"/>
                </a:solidFill>
                <a:latin typeface="Montserrat" pitchFamily="2" charset="77"/>
                <a:ea typeface="Calibri"/>
                <a:cs typeface="Calibri"/>
              </a:rPr>
              <a:t>Sebastian Antunez Noguera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0049516-04B1-49E2-CC29-A48B3B898D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45046" y="2985545"/>
            <a:ext cx="4562771" cy="154545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10328" y="507492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Programación para la Ciencia de Datos (202682.1927)  ·  Profesor Omar Salinas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Proyecto final integrador — Fase 4  · 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33197346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n 16">
            <a:extLst>
              <a:ext uri="{FF2B5EF4-FFF2-40B4-BE49-F238E27FC236}">
                <a16:creationId xmlns:a16="http://schemas.microsoft.com/office/drawing/2014/main" id="{D903B572-7AB0-4369-C487-D62538C3B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2400" y="2606876"/>
            <a:ext cx="1727200" cy="14605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43200" y="4892040"/>
            <a:ext cx="67025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Incorporar la matrícula para ver la deserción  ·  Modelos de supervivencia para datos censurados</a:t>
            </a:r>
          </a:p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github.com/santunez75/proyecto-titulados</a:t>
            </a:r>
          </a:p>
        </p:txBody>
      </p:sp>
    </p:spTree>
    <p:extLst>
      <p:ext uri="{BB962C8B-B14F-4D97-AF65-F5344CB8AC3E}">
        <p14:creationId xmlns:p14="http://schemas.microsoft.com/office/powerpoint/2010/main" val="2207412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EL PROBLEMA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28800"/>
            <a:ext cx="55778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Cada carrera en Chile declara una duración teórica.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Esa cifra define expectativas de gasto y determina la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duración de becas y créditos estatales.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Nadie publica cuánto se tarda en realidad.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La diferencia —la sobreduración— no existe como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variable en ningún registro oficial.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20840" y="2057400"/>
            <a:ext cx="4343400" cy="16002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2286000"/>
            <a:ext cx="3794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</a:rPr>
              <a:t>¿Se puede reconstruir la duración real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</a:rPr>
              <a:t>desde los registros administrativos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</a:rPr>
              <a:t>y caracterizar el rezago con ella?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783080"/>
            <a:ext cx="4343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20236D"/>
                </a:solidFill>
              </a:rPr>
              <a:t>LA PREGUNTA TÉCNICA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977639"/>
            <a:ext cx="4343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08080"/>
                </a:solidFill>
              </a:rPr>
              <a:t>Fuente: SIES, Titulados de Educación Superior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08080"/>
                </a:solidFill>
              </a:rPr>
              <a:t>6 archivos · 955 MB · 1.710.167 filas · 40 columnas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CÓMO SE CONSTRUYÓ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783080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395728"/>
            <a:ext cx="2395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Definición y entorno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788920"/>
            <a:ext cx="239572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Pregunta técnica, entorno virtual,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dependencias fijadas, código modular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872" y="1783080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47872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7872" y="2395728"/>
            <a:ext cx="2395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Pipeline de datos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872" y="2788920"/>
            <a:ext cx="239572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Ingesta, centinelas, duplicados,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reconstrucción de la duración real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7064" y="1783080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27064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27064" y="2395728"/>
            <a:ext cx="2395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Núcleo algorítmico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7064" y="2788920"/>
            <a:ext cx="239572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Algoritmos propios, complejidad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medida, POO y modelos por gradiente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06256" y="1783080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6256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06256" y="2395728"/>
            <a:ext cx="2395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Análisis y difusión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06256" y="2788920"/>
            <a:ext cx="239572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Resultados, visualizaciones,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discusión y comunicación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06908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>
                <a:solidFill>
                  <a:srgbClr val="20236D"/>
                </a:solidFill>
              </a:rPr>
              <a:t>La transformación central: la duración real no existe en la fuente, se deriva.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4462272"/>
            <a:ext cx="10424160" cy="1051560"/>
          </a:xfrm>
          <a:prstGeom prst="rect">
            <a:avLst/>
          </a:prstGeom>
          <a:solidFill>
            <a:srgbClr val="F2F3F7"/>
          </a:solidFill>
          <a:ln>
            <a:solidFill>
              <a:srgbClr val="D0D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4645152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  <a:latin typeface="Consolas"/>
              </a:rPr>
              <a:t>duracion_real_sem = (anio_titulo - anio_ing_carr_ori) * 2 + (semestre_titulo - sem_ing_carr_ori) + 1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  <a:latin typeface="Consolas"/>
              </a:rPr>
              <a:t>sobreduracion_sem = duracion_real_sem - dur_total_carr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CUATRO DE CADA CINCO EGRESAN FUERA DE PLAZO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69164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1E7A46"/>
                </a:solidFill>
              </a:rPr>
              <a:t>19,0 %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35000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se titula dentro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del plazo teórico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169164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2,76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235000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semestres de exceso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en promedio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169164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B02A1E"/>
                </a:solidFill>
              </a:rPr>
              <a:t>20,4 %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235000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acumula rezago severo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(más de 4 semestres)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6" y="169164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3,55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235000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semestres-estudiante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en exceso, 2020-2025</a:t>
            </a:r>
          </a:p>
        </p:txBody>
      </p:sp>
      <p:pic>
        <p:nvPicPr>
          <p:cNvPr id="23" name="Picture 22" descr="f4_fig1_magnit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0860" y="3154680"/>
            <a:ext cx="4770280" cy="26974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 (n = 1.246.760).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DERECHO TRIPLICA A EDUCACIÓN</a:t>
            </a:r>
          </a:p>
        </p:txBody>
      </p:sp>
      <p:pic>
        <p:nvPicPr>
          <p:cNvPr id="15" name="Picture 14" descr="f4_fig2_fact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968" y="1645920"/>
            <a:ext cx="4894063" cy="2880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4892040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Casi cuatro semestres separan los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extremos del ranking de áreas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4892040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Las universidades superan a los IP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en más de un semestre completo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82712" y="4892040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Las mujeres se titulan 0,93 semestres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antes, en las diez áreas sin excepción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LA PANDEMIA DESPLAZÓ TITULACIONES, NO LAS EMPEORÓ</a:t>
            </a:r>
          </a:p>
        </p:txBody>
      </p:sp>
      <p:pic>
        <p:nvPicPr>
          <p:cNvPr id="15" name="Picture 14" descr="f4_fig3_evolu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9283" y="1600200"/>
            <a:ext cx="5793434" cy="3063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484632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En 2020 se titularon 87.000 personas menos que en un año normal y la sobreduración tocó su mínimo. En 2021 el volumen se recuperó y la sobreduración alcanzó su máximo.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Son el mismo fenómeno: las titulaciones se postergaron. El mecanismo es de desplazamiento, no de deterioro académico.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NINGUNA COHORTE ESTÁ COMPLETA</a:t>
            </a:r>
          </a:p>
        </p:txBody>
      </p:sp>
      <p:pic>
        <p:nvPicPr>
          <p:cNvPr id="15" name="Picture 14" descr="f4_fig4_truncami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1347" y="1600200"/>
            <a:ext cx="5389305" cy="2880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4709160"/>
            <a:ext cx="10424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De las cohortes recientes solo se han titulado los más rápidos; de las antiguas, solo los más rezagados.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Ninguna cohorte está completa, y lo están en direcciones opuestas: el descenso de la serie no es una mejora del sistema.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Es una limitación del diseño de la fuente, no del procesamiento — y declararla es parte del resultado.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EL RIGOR DETRÁS DE LAS CIFRAS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73736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1E7A46"/>
                </a:solidFill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39572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pruebas automatizadas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 casos normales,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límite y excepciones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173736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1E7A46"/>
                </a:solidFill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239572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reglas de coherencia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del dominio, todas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aprobadas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173736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6.516×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239572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más rápido el conteo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por búsqueda binaria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que el lineal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6" y="173736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860×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239572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menos memoria la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agregación de una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sola pasada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611880"/>
            <a:ext cx="4983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Los algoritmos se implementaron desde cero y se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verificaron contra pandas, sorted y NumPy antes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de medir su tiempo.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Las curvas log-log confirmaron las cotas: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1,00 lineal · 1,08 merge sort · 2,04 inserción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611880"/>
            <a:ext cx="4983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Y mostraron dónde la teoría no basta: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quickselect es O(n) en comparaciones pero escala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como n^1,22, porque cada nivel de recursión asigna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tres listas nuevas.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La cota describe el crecimiento, no la constante.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CONCLUSIONES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1783080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1801368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El rezago es masivo y estructural.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16712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80 % egresa fuera de plazo; Derecho triplica a Educación; las mujeres se titulan antes en las diez áreas.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2807208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825496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La pandemia desplazó, no deterioró.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1912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La caída de 2020 y el máximo de 2021 son el mismo fenómeno visto en dos momentos.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3831336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849624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Los registros no explican el caso individual.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215384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R² de 0,085: el rezago depende de trayectorias personales que la fuente no registra. Es un resultado, no un fracaso.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" y="4855464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873752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Todo el proyecto es reproducible.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23951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Cuatro comandos, 73 pruebas, 36 commits con historial verificable y cada cifra rastreable a su archivo.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2256</TotalTime>
  <Words>493</Words>
  <Application>Microsoft Macintosh PowerPoint</Application>
  <PresentationFormat>Panorámica</PresentationFormat>
  <Paragraphs>36</Paragraphs>
  <Slides>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Cambria</vt:lpstr>
      <vt:lpstr>Montserrat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LOREM IPSUM DOLOR SIT AMET, CONSECTETUR ADIPISCING ELIT. MORBI TURPIS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Sobreduracion en la titulacion de la educacion superior chilena (2020-2025)</dc:title>
  <dc:subject>Fase 4 - Proyecto final integrador</dc:subject>
  <dc:creator>Sebastian Antunez Noguera</dc:creator>
  <cp:keywords/>
  <dc:description>Programacion para la Ciencia de Datos (202682.1927)</dc:description>
  <cp:lastModifiedBy>Sebastian Antunez Noguera</cp:lastModifiedBy>
  <cp:revision>30</cp:revision>
  <dcterms:created xsi:type="dcterms:W3CDTF">2023-10-13T18:05:47Z</dcterms:created>
  <dcterms:modified xsi:type="dcterms:W3CDTF">2026-07-06T14:35:48Z</dcterms:modified>
  <cp:category/>
</cp:coreProperties>
</file>