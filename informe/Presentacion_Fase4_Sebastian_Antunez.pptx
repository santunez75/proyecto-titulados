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9"/>
  </p:notesMasterIdLst>
  <p:sldIdLst>
    <p:sldId id="2076137175" r:id="rId2"/>
    <p:sldId id="2076137361" r:id="rId15"/>
    <p:sldId id="2076137362" r:id="rId16"/>
    <p:sldId id="2076137363" r:id="rId17"/>
    <p:sldId id="2076137364" r:id="rId18"/>
    <p:sldId id="2076137365" r:id="rId19"/>
    <p:sldId id="2076137366" r:id="rId20"/>
    <p:sldId id="2076137367" r:id="rId21"/>
    <p:sldId id="2076137368" r:id="rId22"/>
    <p:sldId id="207613735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B1660F4-BA9A-82B8-C334-CF91C75A5656}" name="Ruth Marcela Espinosa Sarmiento" initials="RS" userId="S::ruth.espinosa@unab.cl::2acad1b5-36c7-4a86-bd14-a01055d811d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36D"/>
    <a:srgbClr val="B63C0F"/>
    <a:srgbClr val="A4C93C"/>
    <a:srgbClr val="01BF9F"/>
    <a:srgbClr val="4A7AEB"/>
    <a:srgbClr val="00644F"/>
    <a:srgbClr val="40306E"/>
    <a:srgbClr val="41BBD2"/>
    <a:srgbClr val="43546A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Estilo claro 2 - Acento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Estilo claro 3 - Acento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850"/>
    <p:restoredTop sz="94674"/>
  </p:normalViewPr>
  <p:slideViewPr>
    <p:cSldViewPr snapToGrid="0">
      <p:cViewPr>
        <p:scale>
          <a:sx n="90" d="100"/>
          <a:sy n="90" d="100"/>
        </p:scale>
        <p:origin x="2216" y="9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microsoft.com/office/2018/10/relationships/authors" Target="authors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2B2D6A-D10B-4950-84AB-B76A76B41051}" type="datetimeFigureOut">
              <a:t>06-07-26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2D85B4-8D15-40BA-BE63-8F85761BC2A6}" type="slidenum"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26282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18768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7784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634837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437286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64894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148329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74201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42401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719603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24430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119240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C156A5-B668-40B6-B68E-AFC99CB3A359}" type="datetimeFigureOut">
              <a:rPr lang="es-CL" smtClean="0"/>
              <a:t>06-07-26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4E32BF-339A-4FD7-AF2D-884DBB49ECE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3360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em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1">
            <a:extLst>
              <a:ext uri="{FF2B5EF4-FFF2-40B4-BE49-F238E27FC236}">
                <a16:creationId xmlns:a16="http://schemas.microsoft.com/office/drawing/2014/main" id="{8261AC4D-D56B-FCD9-2D31-C2C2E0662094}"/>
              </a:ext>
            </a:extLst>
          </p:cNvPr>
          <p:cNvSpPr txBox="1">
            <a:spLocks/>
          </p:cNvSpPr>
          <p:nvPr/>
        </p:nvSpPr>
        <p:spPr>
          <a:xfrm>
            <a:off x="3576953" y="2331720"/>
            <a:ext cx="8757337" cy="1600200"/>
          </a:xfrm>
          <a:prstGeom prst="rect">
            <a:avLst/>
          </a:prstGeom>
        </p:spPr>
        <p:txBody>
          <a:bodyPr vert="horz" lIns="91440" tIns="45720" rIns="91440" bIns="45720" rtlCol="0" anchor="b" wrap="square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000" dirty="0">
                <a:solidFill>
                  <a:srgbClr val="FFFFFF"/>
                </a:solidFill>
                <a:latin typeface="Montserrat" pitchFamily="2" charset="77"/>
                <a:cs typeface="Calibri Light"/>
              </a:rPr>
              <a:t>Sobreduración en la titulación</a:t>
            </a:r>
            <a:endParaRPr lang="es-ES" sz="5400" dirty="0">
              <a:solidFill>
                <a:srgbClr val="FFFFFF"/>
              </a:solidFill>
              <a:latin typeface="Montserrat" pitchFamily="2" charset="77"/>
            </a:endParaRPr>
          </a:p>
          <a:p>
            <a:r>
              <a:rPr lang="es-ES" sz="3000" dirty="0">
                <a:solidFill>
                  <a:srgbClr val="FFFFFF"/>
                </a:solidFill>
                <a:latin typeface="Montserrat" pitchFamily="2" charset="77"/>
                <a:cs typeface="Calibri Light"/>
              </a:rPr>
              <a:t>de la educación superior chilena</a:t>
            </a:r>
            <a:endParaRPr lang="es-ES" sz="5400" dirty="0">
              <a:solidFill>
                <a:srgbClr val="FFFFFF"/>
              </a:solidFill>
              <a:latin typeface="Montserrat" pitchFamily="2" charset="77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944E5F5-76E7-7915-76DC-35DD2BF31062}"/>
              </a:ext>
            </a:extLst>
          </p:cNvPr>
          <p:cNvSpPr/>
          <p:nvPr/>
        </p:nvSpPr>
        <p:spPr>
          <a:xfrm>
            <a:off x="5005973" y="3860501"/>
            <a:ext cx="6000108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7" name="Subtítulo 2">
            <a:extLst>
              <a:ext uri="{FF2B5EF4-FFF2-40B4-BE49-F238E27FC236}">
                <a16:creationId xmlns:a16="http://schemas.microsoft.com/office/drawing/2014/main" id="{9CBD3C2B-219F-AC36-606B-A6905CE9EE69}"/>
              </a:ext>
            </a:extLst>
          </p:cNvPr>
          <p:cNvSpPr txBox="1">
            <a:spLocks/>
          </p:cNvSpPr>
          <p:nvPr/>
        </p:nvSpPr>
        <p:spPr>
          <a:xfrm>
            <a:off x="4913505" y="4069080"/>
            <a:ext cx="6613130" cy="109839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500" dirty="0">
                <a:solidFill>
                  <a:srgbClr val="FFFFFF"/>
                </a:solidFill>
                <a:latin typeface="Montserrat" pitchFamily="2" charset="77"/>
                <a:cs typeface="Calibri"/>
              </a:rPr>
              <a:t>Facultad de Ingeniería  |  Magíster en Ciencia de Datos e IA</a:t>
            </a:r>
            <a:endParaRPr lang="es-ES" sz="2300" dirty="0">
              <a:solidFill>
                <a:srgbClr val="FFFFFF"/>
              </a:solidFill>
              <a:latin typeface="Montserrat" pitchFamily="2" charset="77"/>
              <a:ea typeface="Calibri"/>
              <a:cs typeface="Calibri"/>
            </a:endParaRP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41860A79-B110-9F78-3978-77AFA70E5855}"/>
              </a:ext>
            </a:extLst>
          </p:cNvPr>
          <p:cNvSpPr txBox="1">
            <a:spLocks/>
          </p:cNvSpPr>
          <p:nvPr/>
        </p:nvSpPr>
        <p:spPr>
          <a:xfrm>
            <a:off x="4910328" y="4709160"/>
            <a:ext cx="5486400" cy="42564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sz="1200" dirty="0">
                <a:solidFill>
                  <a:srgbClr val="FFFFFF"/>
                </a:solidFill>
                <a:latin typeface="Montserrat" pitchFamily="2" charset="77"/>
                <a:ea typeface="Calibri"/>
                <a:cs typeface="Calibri"/>
              </a:rPr>
              <a:t>Sebastian Antunez Noguera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0049516-04B1-49E2-CC29-A48B3B898D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45046" y="2985545"/>
            <a:ext cx="4562771" cy="154545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10328" y="507492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Programación para la Ciencia de Datos (202682.1927)  ·  Profesor Omar Salinas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</a:rPr>
              <a:t>Proyecto final integrador — Fase 4  · 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33197346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n 16">
            <a:extLst>
              <a:ext uri="{FF2B5EF4-FFF2-40B4-BE49-F238E27FC236}">
                <a16:creationId xmlns:a16="http://schemas.microsoft.com/office/drawing/2014/main" id="{D903B572-7AB0-4369-C487-D62538C3B6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2400" y="2606876"/>
            <a:ext cx="1727200" cy="14605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43200" y="4892040"/>
            <a:ext cx="67025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Incorporar la matrícula para ver la deserción  ·  Modelos de supervivencia para datos censurados</a:t>
            </a:r>
          </a:p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</a:rPr>
              <a:t>github.com/santunez75/proyecto-titulados</a:t>
            </a:r>
          </a:p>
        </p:txBody>
      </p:sp>
    </p:spTree>
    <p:extLst>
      <p:ext uri="{BB962C8B-B14F-4D97-AF65-F5344CB8AC3E}">
        <p14:creationId xmlns:p14="http://schemas.microsoft.com/office/powerpoint/2010/main" val="22074128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EL PROBLEMA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28800"/>
            <a:ext cx="55778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Cada carrera en Chile declara una duración teórica.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Esa cifra define expectativas de gasto y determina la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duración de becas y créditos estatales.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Nadie publica cuánto se tarda en realidad.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La diferencia —la sobreduración— no existe como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B3B3B"/>
                </a:solidFill>
              </a:rPr>
              <a:t>variable en ningún registro oficial.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20840" y="2057400"/>
            <a:ext cx="4343400" cy="16002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5160" y="2286000"/>
            <a:ext cx="37947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</a:rPr>
              <a:t>¿Se puede reconstruir la duración real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</a:rPr>
              <a:t>desde los registros administrativos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</a:rPr>
              <a:t>y caracterizar el rezago con ella?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1783080"/>
            <a:ext cx="4343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>
                <a:solidFill>
                  <a:srgbClr val="20236D"/>
                </a:solidFill>
              </a:rPr>
              <a:t>LA PREGUNTA TÉCNICA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977639"/>
            <a:ext cx="4343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808080"/>
                </a:solidFill>
              </a:rPr>
              <a:t>Fuente: SIES, Titulados de Educación Superior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808080"/>
                </a:solidFill>
              </a:rPr>
              <a:t>6 archivos · 955 MB · 1.710.167 filas · 40 columnas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CÓMO SE CONSTRUYÓ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783080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20236D"/>
                </a:solidFill>
              </a:rPr>
              <a:t>F1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2267712"/>
            <a:ext cx="2395728" cy="254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395728"/>
            <a:ext cx="2395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>
                <a:solidFill>
                  <a:srgbClr val="3B3B3B"/>
                </a:solidFill>
              </a:rPr>
              <a:t>Definición y entorno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788920"/>
            <a:ext cx="239572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Pregunta técnica, entorno virtual,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dependencias fijadas, código modular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7872" y="1783080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20236D"/>
                </a:solidFill>
              </a:rPr>
              <a:t>F2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47872" y="2267712"/>
            <a:ext cx="2395728" cy="254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47872" y="2395728"/>
            <a:ext cx="2395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>
                <a:solidFill>
                  <a:srgbClr val="3B3B3B"/>
                </a:solidFill>
              </a:rPr>
              <a:t>Pipeline de datos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47872" y="2788920"/>
            <a:ext cx="239572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Ingesta, centinelas, duplicados,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reconstrucción de la duración real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7064" y="1783080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20236D"/>
                </a:solidFill>
              </a:rPr>
              <a:t>F3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27064" y="2267712"/>
            <a:ext cx="2395728" cy="254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27064" y="2395728"/>
            <a:ext cx="2395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>
                <a:solidFill>
                  <a:srgbClr val="3B3B3B"/>
                </a:solidFill>
              </a:rPr>
              <a:t>Núcleo algorítmico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7064" y="2788920"/>
            <a:ext cx="239572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Algoritmos propios, complejidad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medida, POO y modelos por gradiente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06256" y="1783080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20236D"/>
                </a:solidFill>
              </a:rPr>
              <a:t>F4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6256" y="2267712"/>
            <a:ext cx="2395728" cy="25400"/>
          </a:xfrm>
          <a:prstGeom prst="rect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06256" y="2395728"/>
            <a:ext cx="2395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>
                <a:solidFill>
                  <a:srgbClr val="3B3B3B"/>
                </a:solidFill>
              </a:rPr>
              <a:t>Análisis y difusión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06256" y="2788920"/>
            <a:ext cx="239572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Resultados, visualizaciones,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discusión y comunicación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4069080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>
                <a:solidFill>
                  <a:srgbClr val="20236D"/>
                </a:solidFill>
              </a:rPr>
              <a:t>La transformación central: la duración real no existe en la fuente, se deriva.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4462272"/>
            <a:ext cx="10424160" cy="1051560"/>
          </a:xfrm>
          <a:prstGeom prst="rect">
            <a:avLst/>
          </a:prstGeom>
          <a:solidFill>
            <a:srgbClr val="F2F3F7"/>
          </a:solidFill>
          <a:ln>
            <a:solidFill>
              <a:srgbClr val="D0D2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4645152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  <a:latin typeface="Consolas"/>
              </a:rPr>
              <a:t>duracion_real_sem = (anio_titulo - anio_ing_carr_ori) * 2 + (semestre_titulo - sem_ing_carr_ori) + 1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  <a:latin typeface="Consolas"/>
              </a:rPr>
              <a:t>sobreduracion_sem = duracion_real_sem - dur_total_carr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EL RESULTADO PRINCIPAL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69164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1E7A46"/>
                </a:solidFill>
              </a:rPr>
              <a:t>19,0 %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35000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se titula dentro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del plazo teórico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169164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20236D"/>
                </a:solidFill>
              </a:rPr>
              <a:t>2,76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235000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semestres de exceso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en promedio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169164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B02A1E"/>
                </a:solidFill>
              </a:rPr>
              <a:t>20,4 %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235000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acumula rezago severo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(más de 4 semestres)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06256" y="169164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20236D"/>
                </a:solidFill>
              </a:rPr>
              <a:t>3,55 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235000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semestres-estudiante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en exceso, 2020-2025</a:t>
            </a:r>
          </a:p>
        </p:txBody>
      </p:sp>
      <p:pic>
        <p:nvPicPr>
          <p:cNvPr id="23" name="Picture 22" descr="f4_distribucion_sobredura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524" y="3154680"/>
            <a:ext cx="6552952" cy="26974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8680" y="6053328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808080"/>
                </a:solidFill>
              </a:rPr>
              <a:t>Fuente: elaboración propia a partir de SIES, Titulados de Educación Superior 2020-2025 (n = 1.246.760).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EL REZAGO NO ES HOMOGÉNEO</a:t>
            </a:r>
          </a:p>
        </p:txBody>
      </p:sp>
      <p:pic>
        <p:nvPicPr>
          <p:cNvPr id="15" name="Picture 14" descr="f4_factores_sobredura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4259" y="1645920"/>
            <a:ext cx="7923481" cy="2880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4892040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Derecho triplica a Educación: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5,77 frente a 1,93 semestres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4892040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Las universidades superan a los IP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en más de un semestre completo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82712" y="4892040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Las mujeres se titulan 0,93 semestres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antes, en las diez áreas sin excepción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053328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808080"/>
                </a:solidFill>
              </a:rPr>
              <a:t>Fuente: elaboración propia a partir de SIES, Titulados de Educación Superior 2020-2025.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LA PANDEMIA DESPLAZÓ TITULACIONES</a:t>
            </a:r>
          </a:p>
        </p:txBody>
      </p:sp>
      <p:pic>
        <p:nvPicPr>
          <p:cNvPr id="15" name="Picture 14" descr="f4_serie_temp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4238" y="1600200"/>
            <a:ext cx="6483524" cy="30632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484632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En 2020 se titularon 87.000 personas menos que en un año normal y la sobreduración tocó su mínimo. En 2021 el volumen se recuperó y la sobreduración alcanzó su máximo.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Son el mismo fenómeno: las titulaciones se postergaron. El mecanismo es de desplazamiento, no de deterioro académico.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053328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808080"/>
                </a:solidFill>
              </a:rPr>
              <a:t>Fuente: elaboración propia a partir de SIES, Titulados de Educación Superior 2020-2025.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UNA LIMITACIÓN QUE CONDICIONA TODO</a:t>
            </a:r>
          </a:p>
        </p:txBody>
      </p:sp>
      <p:pic>
        <p:nvPicPr>
          <p:cNvPr id="15" name="Picture 14" descr="f4_truncamiento_cohor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0910" y="1600200"/>
            <a:ext cx="7390180" cy="2880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4709160"/>
            <a:ext cx="10424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De las cohortes recientes solo se han titulado los más rápidos; de las antiguas, solo los más rezagados.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Ninguna cohorte está completa, y lo están en direcciones opuestas: el descenso de la serie no es una mejora del sistema.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3B3B3B"/>
                </a:solidFill>
              </a:rPr>
              <a:t>Es una limitación del diseño de la fuente, no del procesamiento — y declararla es parte del resultado.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053328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808080"/>
                </a:solidFill>
              </a:rPr>
              <a:t>Fuente: elaboración propia a partir de SIES, Titulados de Educación Superior 2020-2025.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EL RIGOR DETRÁS DE LAS CIFRAS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73736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1E7A46"/>
                </a:solidFill>
              </a:rPr>
              <a:t>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39572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pruebas automatizadas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de casos normales,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límite y excepciones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173736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1E7A46"/>
                </a:solidFill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239572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reglas de coherencia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del dominio, todas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aprobadas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173736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20236D"/>
                </a:solidFill>
              </a:rPr>
              <a:t>6.516×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239572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más rápido el conteo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por búsqueda binaria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que el lineal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06256" y="173736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20236D"/>
                </a:solidFill>
              </a:rPr>
              <a:t>860×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239572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menos memoria la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agregación de una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B3B3B"/>
                </a:solidFill>
              </a:rPr>
              <a:t>sola pasada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611880"/>
            <a:ext cx="49834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Los algoritmos se implementaron desde cero y se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verificaron contra pandas, sorted y NumPy antes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de medir su tiempo.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/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Las curvas log-log confirmaron las cotas: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1,00 lineal · 1,08 merge sort · 2,04 inserción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611880"/>
            <a:ext cx="49834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Y mostraron dónde la teoría no basta: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/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quickselect es O(n) en comparaciones pero escala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como n^1,22, porque cada nivel de recursión asigna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tres listas nuevas.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/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B3B3B"/>
                </a:solidFill>
              </a:rPr>
              <a:t>La cota describe el crecimiento, no la constante.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7" name="Grupo 6">
            <a:extLst>
              <a:ext uri="{FF2B5EF4-FFF2-40B4-BE49-F238E27FC236}">
                <a16:creationId xmlns:a16="http://schemas.microsoft.com/office/drawing/2014/main" id="{3089DBCA-FFA2-7FCA-0978-020F1612CD92}"/>
              </a:ext>
            </a:extLst>
          </p:cNvPr>
          <p:cNvGrpSpPr/>
          <p:nvPr/>
        </p:nvGrpSpPr>
        <p:grpSpPr>
          <a:xfrm>
            <a:off x="302002" y="-206018"/>
            <a:ext cx="11544754" cy="6812558"/>
            <a:chOff x="302002" y="-206018"/>
            <a:chExt cx="11544754" cy="681255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3C44C02C-081F-BED0-D6AD-14E853857BBA}"/>
                </a:ext>
              </a:extLst>
            </p:cNvPr>
            <p:cNvSpPr/>
            <p:nvPr/>
          </p:nvSpPr>
          <p:spPr>
            <a:xfrm>
              <a:off x="302002" y="907609"/>
              <a:ext cx="11544754" cy="569893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E15368CA-E4DB-7718-2A41-27F135DAB4D0}"/>
                </a:ext>
              </a:extLst>
            </p:cNvPr>
            <p:cNvGrpSpPr/>
            <p:nvPr/>
          </p:nvGrpSpPr>
          <p:grpSpPr>
            <a:xfrm>
              <a:off x="10266948" y="-206018"/>
              <a:ext cx="1339576" cy="1716660"/>
              <a:chOff x="10266948" y="-206018"/>
              <a:chExt cx="1339576" cy="1716660"/>
            </a:xfrm>
          </p:grpSpPr>
          <p:sp>
            <p:nvSpPr>
              <p:cNvPr id="14" name="Título 1">
                <a:extLst>
                  <a:ext uri="{FF2B5EF4-FFF2-40B4-BE49-F238E27FC236}">
                    <a16:creationId xmlns:a16="http://schemas.microsoft.com/office/drawing/2014/main" id="{BD4FDC23-8EEC-4944-2580-A2FC374CD2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66948" y="-206018"/>
                <a:ext cx="1339576" cy="1716660"/>
              </a:xfrm>
              <a:prstGeom prst="rect">
                <a:avLst/>
              </a:prstGeom>
              <a:solidFill>
                <a:srgbClr val="20236D"/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s-ES" sz="2800" dirty="0">
                    <a:solidFill>
                      <a:srgbClr val="FFFFFF"/>
                    </a:solidFill>
                    <a:latin typeface="Calibri"/>
                    <a:ea typeface="Calibri"/>
                    <a:cs typeface="Calibri Light"/>
                  </a:rPr>
                  <a:t>  </a:t>
                </a:r>
                <a:endParaRPr lang="es-ES" sz="2800" dirty="0">
                  <a:solidFill>
                    <a:srgbClr val="FFFFFF"/>
                  </a:solidFill>
                  <a:latin typeface="Calibri"/>
                  <a:ea typeface="Calibri"/>
                </a:endParaRPr>
              </a:p>
            </p:txBody>
          </p:sp>
          <p:pic>
            <p:nvPicPr>
              <p:cNvPr id="13" name="Imagen 12">
                <a:extLst>
                  <a:ext uri="{FF2B5EF4-FFF2-40B4-BE49-F238E27FC236}">
                    <a16:creationId xmlns:a16="http://schemas.microsoft.com/office/drawing/2014/main" id="{E22975E8-8974-FCA4-BF3D-C8A1AD8F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375523" y="394074"/>
                <a:ext cx="1151092" cy="973350"/>
              </a:xfrm>
              <a:prstGeom prst="rect">
                <a:avLst/>
              </a:prstGeom>
            </p:spPr>
          </p:pic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ACD47DFB-493A-6667-77EE-9717D911E58D}"/>
              </a:ext>
            </a:extLst>
          </p:cNvPr>
          <p:cNvSpPr/>
          <p:nvPr/>
        </p:nvSpPr>
        <p:spPr>
          <a:xfrm>
            <a:off x="1463040" y="648352"/>
            <a:ext cx="8595360" cy="520700"/>
          </a:xfrm>
          <a:prstGeom prst="rect">
            <a:avLst/>
          </a:prstGeom>
          <a:solidFill>
            <a:schemeClr val="tx2">
              <a:lumMod val="5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L" sz="17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anose="020F0302020204030204" pitchFamily="34" charset="0"/>
                <a:ea typeface="Cambria" panose="02040503050406030204" pitchFamily="18" charset="0"/>
                <a:cs typeface="Calibri Light" panose="020F0302020204030204" pitchFamily="34" charset="0"/>
              </a:rPr>
              <a:t>CONCLUSIONES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1783080"/>
            <a:ext cx="457200" cy="457200"/>
          </a:xfrm>
          <a:prstGeom prst="ellipse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1801368"/>
            <a:ext cx="9692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20236D"/>
                </a:solidFill>
              </a:rPr>
              <a:t>El rezago es masivo y estructural.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16712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80 % egresa fuera de plazo; Derecho triplica a Educación; las mujeres se titulan antes en las diez áreas.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2807208"/>
            <a:ext cx="457200" cy="457200"/>
          </a:xfrm>
          <a:prstGeom prst="ellipse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825496"/>
            <a:ext cx="9692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20236D"/>
                </a:solidFill>
              </a:rPr>
              <a:t>La pandemia desplazó, no deterioró.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1912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La caída de 2020 y el máximo de 2021 son el mismo fenómeno visto en dos momentos.</a:t>
            </a:r>
          </a:p>
        </p:txBody>
      </p:sp>
      <p:sp>
        <p:nvSpPr>
          <p:cNvPr id="21" name="Oval 20"/>
          <p:cNvSpPr/>
          <p:nvPr/>
        </p:nvSpPr>
        <p:spPr>
          <a:xfrm>
            <a:off x="868680" y="3831336"/>
            <a:ext cx="457200" cy="457200"/>
          </a:xfrm>
          <a:prstGeom prst="ellipse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849624"/>
            <a:ext cx="9692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20236D"/>
                </a:solidFill>
              </a:rPr>
              <a:t>Los registros no explican el caso individual.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215384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R² de 0,085: el rezago depende de trayectorias personales que la fuente no registra. Es un resultado, no un fracaso.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" y="4855464"/>
            <a:ext cx="457200" cy="457200"/>
          </a:xfrm>
          <a:prstGeom prst="ellipse">
            <a:avLst/>
          </a:prstGeom>
          <a:solidFill>
            <a:srgbClr val="202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873752"/>
            <a:ext cx="9692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20236D"/>
                </a:solidFill>
              </a:rPr>
              <a:t>Todo el proyecto es reproducible.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5239512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3B3B3B"/>
                </a:solidFill>
              </a:rPr>
              <a:t>Cuatro comandos, 73 pruebas, 36 commits con historial verificable y cada cifra rastreable a su archivo.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2256</TotalTime>
  <Words>493</Words>
  <Application>Microsoft Macintosh PowerPoint</Application>
  <PresentationFormat>Panorámica</PresentationFormat>
  <Paragraphs>36</Paragraphs>
  <Slides>7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Cambria</vt:lpstr>
      <vt:lpstr>Montserrat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LOREM IPSUM DOLOR SIT AMET, CONSECTETUR ADIPISCING ELIT. MORBI TURPIS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Sobreduracion en la titulacion de la educacion superior chilena (2020-2025)</dc:title>
  <dc:subject>Fase 4 - Proyecto final integrador</dc:subject>
  <dc:creator>Sebastian Antunez Noguera</dc:creator>
  <cp:keywords/>
  <dc:description>Programacion para la Ciencia de Datos (202682.1927)</dc:description>
  <cp:lastModifiedBy>Sebastian Antunez Noguera</cp:lastModifiedBy>
  <cp:revision>30</cp:revision>
  <dcterms:created xsi:type="dcterms:W3CDTF">2023-10-13T18:05:47Z</dcterms:created>
  <dcterms:modified xsi:type="dcterms:W3CDTF">2026-07-06T14:35:48Z</dcterms:modified>
  <cp:category/>
</cp:coreProperties>
</file>