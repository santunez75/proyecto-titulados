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2"/>
  </p:notesMasterIdLst>
  <p:sldIdLst>
    <p:sldId id="2076137175" r:id="rId2"/>
    <p:sldId id="2076137361" r:id="rId3"/>
    <p:sldId id="2076137362" r:id="rId4"/>
    <p:sldId id="2076137363" r:id="rId5"/>
    <p:sldId id="2076137364" r:id="rId6"/>
    <p:sldId id="2076137365" r:id="rId7"/>
    <p:sldId id="2076137366" r:id="rId8"/>
    <p:sldId id="2076137367" r:id="rId9"/>
    <p:sldId id="2076137368" r:id="rId10"/>
    <p:sldId id="207613735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B1660F4-BA9A-82B8-C334-CF91C75A5656}" name="Ruth Marcela Espinosa Sarmiento" initials="RS" userId="S::ruth.espinosa@unab.cl::2acad1b5-36c7-4a86-bd14-a01055d811d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36D"/>
    <a:srgbClr val="B63C0F"/>
    <a:srgbClr val="A4C93C"/>
    <a:srgbClr val="01BF9F"/>
    <a:srgbClr val="4A7AEB"/>
    <a:srgbClr val="00644F"/>
    <a:srgbClr val="40306E"/>
    <a:srgbClr val="41BBD2"/>
    <a:srgbClr val="43546A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50"/>
    <p:restoredTop sz="72397" autoAdjust="0"/>
  </p:normalViewPr>
  <p:slideViewPr>
    <p:cSldViewPr snapToGrid="0">
      <p:cViewPr varScale="1">
        <p:scale>
          <a:sx n="80" d="100"/>
          <a:sy n="80" d="100"/>
        </p:scale>
        <p:origin x="197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2B2D6A-D10B-4950-84AB-B76A76B41051}" type="datetimeFigureOut">
              <a:t>01-10-2026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2D85B4-8D15-40BA-BE63-8F85761BC2A6}" type="slidenum"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26282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Buenos </a:t>
            </a:r>
            <a:r>
              <a:rPr dirty="0"/>
              <a:t>días. Mi </a:t>
            </a:r>
            <a:r>
              <a:rPr dirty="0" err="1"/>
              <a:t>nombre</a:t>
            </a:r>
            <a:r>
              <a:rPr dirty="0"/>
              <a:t> es Sebastian Antunez y </a:t>
            </a:r>
            <a:r>
              <a:rPr dirty="0" err="1"/>
              <a:t>voy</a:t>
            </a:r>
            <a:r>
              <a:rPr dirty="0"/>
              <a:t> a </a:t>
            </a:r>
            <a:r>
              <a:rPr dirty="0" err="1"/>
              <a:t>presentar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proyecto</a:t>
            </a:r>
            <a:r>
              <a:rPr dirty="0"/>
              <a:t> final del</a:t>
            </a:r>
          </a:p>
          <a:p>
            <a:r>
              <a:rPr dirty="0" err="1"/>
              <a:t>curso</a:t>
            </a:r>
            <a:r>
              <a:rPr dirty="0"/>
              <a:t> </a:t>
            </a:r>
            <a:r>
              <a:rPr dirty="0" err="1"/>
              <a:t>Programación</a:t>
            </a:r>
            <a:r>
              <a:rPr dirty="0"/>
              <a:t> para la </a:t>
            </a:r>
            <a:r>
              <a:rPr dirty="0" err="1"/>
              <a:t>Ciencia</a:t>
            </a:r>
            <a:r>
              <a:rPr dirty="0"/>
              <a:t> de Datos: un </a:t>
            </a:r>
            <a:r>
              <a:rPr dirty="0" err="1"/>
              <a:t>análisis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la </a:t>
            </a:r>
            <a:r>
              <a:rPr dirty="0" err="1"/>
              <a:t>sobreduración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la</a:t>
            </a:r>
          </a:p>
          <a:p>
            <a:r>
              <a:rPr dirty="0" err="1"/>
              <a:t>titulación</a:t>
            </a:r>
            <a:r>
              <a:rPr dirty="0"/>
              <a:t> de la </a:t>
            </a:r>
            <a:r>
              <a:rPr dirty="0" err="1"/>
              <a:t>educación</a:t>
            </a:r>
            <a:r>
              <a:rPr dirty="0"/>
              <a:t> superior </a:t>
            </a:r>
            <a:r>
              <a:rPr dirty="0" err="1"/>
              <a:t>chilena</a:t>
            </a:r>
            <a:r>
              <a:rPr dirty="0"/>
              <a:t>, </a:t>
            </a:r>
            <a:r>
              <a:rPr dirty="0" err="1"/>
              <a:t>construido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1.246.760 </a:t>
            </a:r>
            <a:r>
              <a:rPr dirty="0" err="1"/>
              <a:t>procesos</a:t>
            </a:r>
            <a:r>
              <a:rPr dirty="0"/>
              <a:t> de</a:t>
            </a:r>
          </a:p>
          <a:p>
            <a:r>
              <a:rPr dirty="0" err="1"/>
              <a:t>titulación</a:t>
            </a:r>
            <a:r>
              <a:rPr dirty="0"/>
              <a:t> </a:t>
            </a:r>
            <a:r>
              <a:rPr dirty="0" err="1"/>
              <a:t>reales</a:t>
            </a:r>
            <a:r>
              <a:rPr dirty="0"/>
              <a:t> entre 2020 y 2025.</a:t>
            </a:r>
          </a:p>
          <a:p>
            <a:endParaRPr dirty="0"/>
          </a:p>
          <a:p>
            <a:r>
              <a:rPr dirty="0"/>
              <a:t>RECORDAR: </a:t>
            </a:r>
            <a:r>
              <a:rPr dirty="0" err="1"/>
              <a:t>hablar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 lento de lo que </a:t>
            </a:r>
            <a:r>
              <a:rPr dirty="0" err="1"/>
              <a:t>parece</a:t>
            </a:r>
            <a:r>
              <a:rPr dirty="0"/>
              <a:t> natural;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grabación</a:t>
            </a:r>
            <a:r>
              <a:rPr dirty="0"/>
              <a:t> </a:t>
            </a:r>
            <a:r>
              <a:rPr dirty="0" err="1"/>
              <a:t>siempre</a:t>
            </a:r>
            <a:r>
              <a:rPr dirty="0"/>
              <a:t> </a:t>
            </a:r>
            <a:r>
              <a:rPr dirty="0" err="1"/>
              <a:t>suena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rápido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[0:20 - 1:10 · 50 s]</a:t>
            </a:r>
          </a:p>
          <a:p>
            <a:endParaRPr/>
          </a:p>
          <a:p>
            <a:r>
              <a:t>Cada carrera en Chile declara una duración teórica. Sobre esa cifra se calculan la</a:t>
            </a:r>
          </a:p>
          <a:p>
            <a:r>
              <a:t>duración de las becas y los créditos estatales.</a:t>
            </a:r>
          </a:p>
          <a:p>
            <a:endParaRPr/>
          </a:p>
          <a:p>
            <a:r>
              <a:t>Lo que el sistema no publica es cuánto se tarda en realidad. Y aquí está el punto de</a:t>
            </a:r>
          </a:p>
          <a:p>
            <a:r>
              <a:t>partida: al revisar el esquema oficial del SIES descubrí que las columnas que parecían</a:t>
            </a:r>
          </a:p>
          <a:p>
            <a:r>
              <a:t>tener la respuesta NO registran lo que el estudiante tardó, sino lo que el plan declara.</a:t>
            </a:r>
          </a:p>
          <a:p>
            <a:r>
              <a:t>Son un atributo de la carrera, no de la persona.</a:t>
            </a:r>
          </a:p>
          <a:p>
            <a:endParaRPr/>
          </a:p>
          <a:p>
            <a:r>
              <a:t>Así que la pregunta fue: se puede reconstruir la duración real desde los registros</a:t>
            </a:r>
          </a:p>
          <a:p>
            <a:r>
              <a:t>administrativos, y caracterizar el rezago con esa variable derivada.</a:t>
            </a:r>
          </a:p>
          <a:p>
            <a:endParaRPr/>
          </a:p>
          <a:p>
            <a:r>
              <a:t>PAUSA de medio segundo antes de avanzar: es la bisagra del relato.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El </a:t>
            </a:r>
            <a:r>
              <a:rPr dirty="0" err="1"/>
              <a:t>proyecto</a:t>
            </a:r>
            <a:r>
              <a:rPr dirty="0"/>
              <a:t> se </a:t>
            </a:r>
            <a:r>
              <a:rPr dirty="0" err="1"/>
              <a:t>desarrolló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cuatro </a:t>
            </a:r>
            <a:r>
              <a:rPr dirty="0" err="1"/>
              <a:t>fases</a:t>
            </a:r>
            <a:r>
              <a:rPr dirty="0"/>
              <a:t>. La </a:t>
            </a:r>
            <a:r>
              <a:rPr dirty="0" err="1"/>
              <a:t>primera</a:t>
            </a:r>
            <a:r>
              <a:rPr dirty="0"/>
              <a:t> </a:t>
            </a:r>
            <a:r>
              <a:rPr dirty="0" err="1"/>
              <a:t>definió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problema</a:t>
            </a:r>
            <a:r>
              <a:rPr dirty="0"/>
              <a:t> y </a:t>
            </a:r>
            <a:r>
              <a:rPr dirty="0" err="1"/>
              <a:t>levantó</a:t>
            </a:r>
            <a:r>
              <a:rPr dirty="0"/>
              <a:t> </a:t>
            </a:r>
            <a:r>
              <a:rPr dirty="0" err="1"/>
              <a:t>el</a:t>
            </a:r>
            <a:endParaRPr dirty="0"/>
          </a:p>
          <a:p>
            <a:r>
              <a:rPr dirty="0" err="1"/>
              <a:t>entorno</a:t>
            </a:r>
            <a:r>
              <a:rPr dirty="0"/>
              <a:t> reproducible. La </a:t>
            </a:r>
            <a:r>
              <a:rPr dirty="0" err="1"/>
              <a:t>segunda</a:t>
            </a:r>
            <a:r>
              <a:rPr dirty="0"/>
              <a:t> </a:t>
            </a:r>
            <a:r>
              <a:rPr dirty="0" err="1"/>
              <a:t>construyó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pipeline que </a:t>
            </a:r>
            <a:r>
              <a:rPr dirty="0" err="1"/>
              <a:t>convierte</a:t>
            </a:r>
            <a:r>
              <a:rPr dirty="0"/>
              <a:t> 955 megabytes de</a:t>
            </a:r>
          </a:p>
          <a:p>
            <a:r>
              <a:rPr dirty="0" err="1"/>
              <a:t>archivos</a:t>
            </a:r>
            <a:r>
              <a:rPr dirty="0"/>
              <a:t> crudos </a:t>
            </a:r>
            <a:r>
              <a:rPr dirty="0" err="1"/>
              <a:t>en</a:t>
            </a:r>
            <a:r>
              <a:rPr dirty="0"/>
              <a:t> un conjunto </a:t>
            </a:r>
            <a:r>
              <a:rPr dirty="0" err="1"/>
              <a:t>analítico</a:t>
            </a:r>
            <a:r>
              <a:rPr dirty="0"/>
              <a:t> </a:t>
            </a:r>
            <a:r>
              <a:rPr dirty="0" err="1"/>
              <a:t>validado</a:t>
            </a:r>
            <a:r>
              <a:rPr dirty="0"/>
              <a:t>. La </a:t>
            </a:r>
            <a:r>
              <a:rPr dirty="0" err="1"/>
              <a:t>tercera</a:t>
            </a:r>
            <a:r>
              <a:rPr dirty="0"/>
              <a:t> </a:t>
            </a:r>
            <a:r>
              <a:rPr dirty="0" err="1"/>
              <a:t>implementó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núcleo</a:t>
            </a:r>
            <a:endParaRPr dirty="0"/>
          </a:p>
          <a:p>
            <a:r>
              <a:rPr dirty="0" err="1"/>
              <a:t>algorítmico</a:t>
            </a:r>
            <a:r>
              <a:rPr dirty="0"/>
              <a:t> </a:t>
            </a:r>
            <a:r>
              <a:rPr dirty="0" err="1"/>
              <a:t>desde</a:t>
            </a:r>
            <a:r>
              <a:rPr dirty="0"/>
              <a:t> </a:t>
            </a:r>
            <a:r>
              <a:rPr dirty="0" err="1"/>
              <a:t>primeros</a:t>
            </a:r>
            <a:r>
              <a:rPr dirty="0"/>
              <a:t> </a:t>
            </a:r>
            <a:r>
              <a:rPr dirty="0" err="1"/>
              <a:t>principios</a:t>
            </a:r>
            <a:r>
              <a:rPr dirty="0"/>
              <a:t>, con </a:t>
            </a:r>
            <a:r>
              <a:rPr dirty="0" err="1"/>
              <a:t>medición</a:t>
            </a:r>
            <a:r>
              <a:rPr dirty="0"/>
              <a:t> formal de </a:t>
            </a:r>
            <a:r>
              <a:rPr dirty="0" err="1"/>
              <a:t>complejidad</a:t>
            </a:r>
            <a:r>
              <a:rPr dirty="0"/>
              <a:t> y un </a:t>
            </a:r>
            <a:r>
              <a:rPr dirty="0" err="1"/>
              <a:t>modelo</a:t>
            </a:r>
            <a:r>
              <a:rPr dirty="0"/>
              <a:t> de</a:t>
            </a:r>
          </a:p>
          <a:p>
            <a:r>
              <a:rPr dirty="0" err="1"/>
              <a:t>dominio</a:t>
            </a:r>
            <a:r>
              <a:rPr dirty="0"/>
              <a:t> </a:t>
            </a:r>
            <a:r>
              <a:rPr dirty="0" err="1"/>
              <a:t>orientado</a:t>
            </a:r>
            <a:r>
              <a:rPr dirty="0"/>
              <a:t> a </a:t>
            </a:r>
            <a:r>
              <a:rPr dirty="0" err="1"/>
              <a:t>objetos</a:t>
            </a:r>
            <a:r>
              <a:rPr dirty="0"/>
              <a:t>. Y la </a:t>
            </a:r>
            <a:r>
              <a:rPr dirty="0" err="1"/>
              <a:t>cuarta</a:t>
            </a:r>
            <a:r>
              <a:rPr dirty="0"/>
              <a:t>, que es la que </a:t>
            </a:r>
            <a:r>
              <a:rPr dirty="0" err="1"/>
              <a:t>presento</a:t>
            </a:r>
            <a:r>
              <a:rPr dirty="0"/>
              <a:t>, </a:t>
            </a:r>
            <a:r>
              <a:rPr dirty="0" err="1"/>
              <a:t>ejecuta</a:t>
            </a:r>
            <a:r>
              <a:rPr dirty="0"/>
              <a:t> </a:t>
            </a:r>
            <a:r>
              <a:rPr dirty="0" err="1"/>
              <a:t>todo</a:t>
            </a:r>
            <a:r>
              <a:rPr dirty="0"/>
              <a:t> </a:t>
            </a:r>
            <a:r>
              <a:rPr dirty="0" err="1"/>
              <a:t>eso</a:t>
            </a:r>
            <a:r>
              <a:rPr dirty="0"/>
              <a:t> de</a:t>
            </a:r>
          </a:p>
          <a:p>
            <a:r>
              <a:rPr dirty="0" err="1"/>
              <a:t>extremo</a:t>
            </a:r>
            <a:r>
              <a:rPr dirty="0"/>
              <a:t> a </a:t>
            </a:r>
            <a:r>
              <a:rPr dirty="0" err="1"/>
              <a:t>extremo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La </a:t>
            </a:r>
            <a:r>
              <a:rPr dirty="0" err="1"/>
              <a:t>transformación</a:t>
            </a:r>
            <a:r>
              <a:rPr dirty="0"/>
              <a:t> central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abajo</a:t>
            </a:r>
            <a:r>
              <a:rPr dirty="0"/>
              <a:t>: la </a:t>
            </a:r>
            <a:r>
              <a:rPr dirty="0" err="1"/>
              <a:t>duración</a:t>
            </a:r>
            <a:r>
              <a:rPr dirty="0"/>
              <a:t> real se </a:t>
            </a:r>
            <a:r>
              <a:rPr dirty="0" err="1"/>
              <a:t>deriva</a:t>
            </a:r>
            <a:r>
              <a:rPr dirty="0"/>
              <a:t> del </a:t>
            </a:r>
            <a:r>
              <a:rPr dirty="0" err="1"/>
              <a:t>año</a:t>
            </a:r>
            <a:r>
              <a:rPr dirty="0"/>
              <a:t> y </a:t>
            </a:r>
            <a:r>
              <a:rPr dirty="0" err="1"/>
              <a:t>semestre</a:t>
            </a:r>
            <a:r>
              <a:rPr dirty="0"/>
              <a:t> de</a:t>
            </a:r>
          </a:p>
          <a:p>
            <a:r>
              <a:rPr dirty="0" err="1"/>
              <a:t>ingreso</a:t>
            </a:r>
            <a:r>
              <a:rPr dirty="0"/>
              <a:t> y de </a:t>
            </a:r>
            <a:r>
              <a:rPr dirty="0" err="1"/>
              <a:t>titulación</a:t>
            </a:r>
            <a:r>
              <a:rPr dirty="0"/>
              <a:t>. El "</a:t>
            </a:r>
            <a:r>
              <a:rPr dirty="0" err="1"/>
              <a:t>más</a:t>
            </a:r>
            <a:r>
              <a:rPr dirty="0"/>
              <a:t> uno" no es </a:t>
            </a:r>
            <a:r>
              <a:rPr dirty="0" err="1"/>
              <a:t>arbitrario</a:t>
            </a:r>
            <a:r>
              <a:rPr dirty="0"/>
              <a:t>: </a:t>
            </a:r>
            <a:r>
              <a:rPr dirty="0" err="1"/>
              <a:t>quien</a:t>
            </a:r>
            <a:r>
              <a:rPr dirty="0"/>
              <a:t> </a:t>
            </a:r>
            <a:r>
              <a:rPr dirty="0" err="1"/>
              <a:t>ingresa</a:t>
            </a:r>
            <a:r>
              <a:rPr dirty="0"/>
              <a:t> y se </a:t>
            </a:r>
            <a:r>
              <a:rPr dirty="0" err="1"/>
              <a:t>titula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el</a:t>
            </a:r>
            <a:endParaRPr dirty="0"/>
          </a:p>
          <a:p>
            <a:r>
              <a:rPr dirty="0" err="1"/>
              <a:t>mismo</a:t>
            </a:r>
            <a:r>
              <a:rPr dirty="0"/>
              <a:t> </a:t>
            </a:r>
            <a:r>
              <a:rPr dirty="0" err="1"/>
              <a:t>semestre</a:t>
            </a:r>
            <a:r>
              <a:rPr dirty="0"/>
              <a:t> </a:t>
            </a:r>
            <a:r>
              <a:rPr dirty="0" err="1"/>
              <a:t>cursó</a:t>
            </a:r>
            <a:r>
              <a:rPr dirty="0"/>
              <a:t> un </a:t>
            </a:r>
            <a:r>
              <a:rPr dirty="0" err="1"/>
              <a:t>semestre</a:t>
            </a:r>
            <a:r>
              <a:rPr dirty="0"/>
              <a:t>, no cero. Esa </a:t>
            </a:r>
            <a:r>
              <a:rPr dirty="0" err="1"/>
              <a:t>coherencia</a:t>
            </a:r>
            <a:r>
              <a:rPr dirty="0"/>
              <a:t> </a:t>
            </a:r>
            <a:r>
              <a:rPr dirty="0" err="1"/>
              <a:t>aritmética</a:t>
            </a:r>
            <a:r>
              <a:rPr dirty="0"/>
              <a:t> se </a:t>
            </a:r>
            <a:r>
              <a:rPr dirty="0" err="1"/>
              <a:t>verifica</a:t>
            </a:r>
            <a:r>
              <a:rPr dirty="0"/>
              <a:t> </a:t>
            </a:r>
            <a:r>
              <a:rPr dirty="0" err="1"/>
              <a:t>como</a:t>
            </a:r>
            <a:endParaRPr dirty="0"/>
          </a:p>
          <a:p>
            <a:r>
              <a:rPr dirty="0" err="1"/>
              <a:t>regla</a:t>
            </a:r>
            <a:r>
              <a:rPr dirty="0"/>
              <a:t> de </a:t>
            </a:r>
            <a:r>
              <a:rPr dirty="0" err="1"/>
              <a:t>validación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dataset </a:t>
            </a:r>
            <a:r>
              <a:rPr dirty="0" err="1"/>
              <a:t>completo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SI EL VIDEO VA CORTO, </a:t>
            </a:r>
            <a:r>
              <a:rPr dirty="0" err="1"/>
              <a:t>agregar</a:t>
            </a:r>
            <a:r>
              <a:rPr dirty="0"/>
              <a:t> </a:t>
            </a:r>
            <a:r>
              <a:rPr dirty="0" err="1"/>
              <a:t>aquí</a:t>
            </a:r>
            <a:r>
              <a:rPr dirty="0"/>
              <a:t>: </a:t>
            </a:r>
            <a:r>
              <a:rPr dirty="0" err="1"/>
              <a:t>el</a:t>
            </a:r>
            <a:r>
              <a:rPr dirty="0"/>
              <a:t> pipeline </a:t>
            </a:r>
            <a:r>
              <a:rPr dirty="0" err="1"/>
              <a:t>retiene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72,9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ciento</a:t>
            </a:r>
            <a:r>
              <a:rPr dirty="0"/>
              <a:t> de las </a:t>
            </a:r>
            <a:r>
              <a:rPr dirty="0" err="1"/>
              <a:t>filas</a:t>
            </a:r>
            <a:endParaRPr dirty="0"/>
          </a:p>
          <a:p>
            <a:r>
              <a:rPr dirty="0" err="1"/>
              <a:t>originales</a:t>
            </a:r>
            <a:r>
              <a:rPr dirty="0"/>
              <a:t> y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exclusión</a:t>
            </a:r>
            <a:r>
              <a:rPr dirty="0"/>
              <a:t>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cuantificada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bitácora</a:t>
            </a:r>
            <a:r>
              <a:rPr dirty="0"/>
              <a:t> auditable.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Este es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resultado</a:t>
            </a:r>
            <a:r>
              <a:rPr dirty="0"/>
              <a:t> central. Solo </a:t>
            </a:r>
            <a:r>
              <a:rPr dirty="0" err="1"/>
              <a:t>el</a:t>
            </a:r>
            <a:r>
              <a:rPr dirty="0"/>
              <a:t> 19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ciento</a:t>
            </a:r>
            <a:r>
              <a:rPr dirty="0"/>
              <a:t> de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titulados</a:t>
            </a:r>
            <a:r>
              <a:rPr dirty="0"/>
              <a:t> </a:t>
            </a:r>
            <a:r>
              <a:rPr dirty="0" err="1"/>
              <a:t>egresa</a:t>
            </a:r>
            <a:r>
              <a:rPr dirty="0"/>
              <a:t> </a:t>
            </a:r>
            <a:r>
              <a:rPr dirty="0" err="1"/>
              <a:t>dentro</a:t>
            </a:r>
            <a:r>
              <a:rPr dirty="0"/>
              <a:t> del</a:t>
            </a:r>
          </a:p>
          <a:p>
            <a:r>
              <a:rPr dirty="0" err="1"/>
              <a:t>plazo</a:t>
            </a:r>
            <a:r>
              <a:rPr dirty="0"/>
              <a:t> que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propio</a:t>
            </a:r>
            <a:r>
              <a:rPr dirty="0"/>
              <a:t> plan </a:t>
            </a:r>
            <a:r>
              <a:rPr dirty="0" err="1"/>
              <a:t>declara</a:t>
            </a:r>
            <a:r>
              <a:rPr dirty="0"/>
              <a:t>. </a:t>
            </a:r>
            <a:r>
              <a:rPr dirty="0" err="1"/>
              <a:t>Dicho</a:t>
            </a:r>
            <a:r>
              <a:rPr dirty="0"/>
              <a:t> al </a:t>
            </a:r>
            <a:r>
              <a:rPr dirty="0" err="1"/>
              <a:t>revés</a:t>
            </a:r>
            <a:r>
              <a:rPr dirty="0"/>
              <a:t>: cuatro de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cinco</a:t>
            </a:r>
            <a:r>
              <a:rPr dirty="0"/>
              <a:t> se </a:t>
            </a:r>
            <a:r>
              <a:rPr dirty="0" err="1"/>
              <a:t>titulan</a:t>
            </a:r>
            <a:r>
              <a:rPr dirty="0"/>
              <a:t> </a:t>
            </a:r>
            <a:r>
              <a:rPr dirty="0" err="1"/>
              <a:t>fuera</a:t>
            </a:r>
            <a:endParaRPr dirty="0"/>
          </a:p>
          <a:p>
            <a:r>
              <a:rPr dirty="0"/>
              <a:t>de </a:t>
            </a:r>
            <a:r>
              <a:rPr dirty="0" err="1"/>
              <a:t>plazo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El </a:t>
            </a:r>
            <a:r>
              <a:rPr dirty="0" err="1"/>
              <a:t>exceso</a:t>
            </a:r>
            <a:r>
              <a:rPr dirty="0"/>
              <a:t> </a:t>
            </a:r>
            <a:r>
              <a:rPr dirty="0" err="1"/>
              <a:t>promedio</a:t>
            </a:r>
            <a:r>
              <a:rPr dirty="0"/>
              <a:t> es de 2 coma 76 </a:t>
            </a:r>
            <a:r>
              <a:rPr dirty="0" err="1"/>
              <a:t>semestres</a:t>
            </a:r>
            <a:r>
              <a:rPr dirty="0"/>
              <a:t>, un 43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ciento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 de </a:t>
            </a:r>
            <a:r>
              <a:rPr dirty="0" err="1"/>
              <a:t>tiempo</a:t>
            </a:r>
            <a:r>
              <a:rPr dirty="0"/>
              <a:t> del</a:t>
            </a:r>
          </a:p>
          <a:p>
            <a:r>
              <a:rPr dirty="0" err="1"/>
              <a:t>previsto</a:t>
            </a:r>
            <a:r>
              <a:rPr dirty="0"/>
              <a:t>. Y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rezago</a:t>
            </a:r>
            <a:r>
              <a:rPr dirty="0"/>
              <a:t> </a:t>
            </a:r>
            <a:r>
              <a:rPr dirty="0" err="1"/>
              <a:t>severo</a:t>
            </a:r>
            <a:r>
              <a:rPr dirty="0"/>
              <a:t>, </a:t>
            </a:r>
            <a:r>
              <a:rPr dirty="0" err="1"/>
              <a:t>más</a:t>
            </a:r>
            <a:r>
              <a:rPr dirty="0"/>
              <a:t> de cuatro </a:t>
            </a:r>
            <a:r>
              <a:rPr dirty="0" err="1"/>
              <a:t>semestres</a:t>
            </a:r>
            <a:r>
              <a:rPr dirty="0"/>
              <a:t> de </a:t>
            </a:r>
            <a:r>
              <a:rPr dirty="0" err="1"/>
              <a:t>exceso</a:t>
            </a:r>
            <a:r>
              <a:rPr dirty="0"/>
              <a:t>, </a:t>
            </a:r>
            <a:r>
              <a:rPr dirty="0" err="1"/>
              <a:t>alcanza</a:t>
            </a:r>
            <a:r>
              <a:rPr dirty="0"/>
              <a:t> al 20 coma 4</a:t>
            </a:r>
          </a:p>
          <a:p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ciento</a:t>
            </a:r>
            <a:r>
              <a:rPr dirty="0"/>
              <a:t>: </a:t>
            </a:r>
            <a:r>
              <a:rPr dirty="0" err="1"/>
              <a:t>prácticamente</a:t>
            </a:r>
            <a:r>
              <a:rPr dirty="0"/>
              <a:t> la </a:t>
            </a:r>
            <a:r>
              <a:rPr dirty="0" err="1"/>
              <a:t>misma</a:t>
            </a:r>
            <a:r>
              <a:rPr dirty="0"/>
              <a:t> </a:t>
            </a:r>
            <a:r>
              <a:rPr dirty="0" err="1"/>
              <a:t>proporción</a:t>
            </a:r>
            <a:r>
              <a:rPr dirty="0"/>
              <a:t> que </a:t>
            </a:r>
            <a:r>
              <a:rPr dirty="0" err="1"/>
              <a:t>logra</a:t>
            </a:r>
            <a:r>
              <a:rPr dirty="0"/>
              <a:t> </a:t>
            </a:r>
            <a:r>
              <a:rPr dirty="0" err="1"/>
              <a:t>titularse</a:t>
            </a:r>
            <a:r>
              <a:rPr dirty="0"/>
              <a:t> a </a:t>
            </a:r>
            <a:r>
              <a:rPr dirty="0" err="1"/>
              <a:t>tiempo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Agregado</a:t>
            </a:r>
            <a:r>
              <a:rPr dirty="0"/>
              <a:t>,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sistema</a:t>
            </a:r>
            <a:r>
              <a:rPr dirty="0"/>
              <a:t> </a:t>
            </a:r>
            <a:r>
              <a:rPr dirty="0" err="1"/>
              <a:t>acumula</a:t>
            </a:r>
            <a:r>
              <a:rPr dirty="0"/>
              <a:t> 3 coma 55 </a:t>
            </a:r>
            <a:r>
              <a:rPr dirty="0" err="1"/>
              <a:t>millones</a:t>
            </a:r>
            <a:r>
              <a:rPr dirty="0"/>
              <a:t> de </a:t>
            </a:r>
            <a:r>
              <a:rPr dirty="0" err="1"/>
              <a:t>semestres-estudiante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lo</a:t>
            </a:r>
          </a:p>
          <a:p>
            <a:r>
              <a:rPr dirty="0" err="1"/>
              <a:t>planificado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período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El </a:t>
            </a:r>
            <a:r>
              <a:rPr dirty="0" err="1"/>
              <a:t>gráfico</a:t>
            </a:r>
            <a:r>
              <a:rPr dirty="0"/>
              <a:t> de la </a:t>
            </a:r>
            <a:r>
              <a:rPr dirty="0" err="1"/>
              <a:t>izquierda</a:t>
            </a:r>
            <a:r>
              <a:rPr dirty="0"/>
              <a:t> </a:t>
            </a:r>
            <a:r>
              <a:rPr dirty="0" err="1"/>
              <a:t>muestra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reporto</a:t>
            </a:r>
            <a:r>
              <a:rPr dirty="0"/>
              <a:t> media y </a:t>
            </a:r>
            <a:r>
              <a:rPr dirty="0" err="1"/>
              <a:t>mediana</a:t>
            </a:r>
            <a:r>
              <a:rPr dirty="0"/>
              <a:t>: la </a:t>
            </a:r>
            <a:r>
              <a:rPr dirty="0" err="1"/>
              <a:t>distribución</a:t>
            </a:r>
            <a:r>
              <a:rPr dirty="0"/>
              <a:t> es</a:t>
            </a:r>
          </a:p>
          <a:p>
            <a:r>
              <a:rPr dirty="0" err="1"/>
              <a:t>asimétrica</a:t>
            </a:r>
            <a:r>
              <a:rPr dirty="0"/>
              <a:t>, con </a:t>
            </a:r>
            <a:r>
              <a:rPr dirty="0" err="1"/>
              <a:t>una</a:t>
            </a:r>
            <a:r>
              <a:rPr dirty="0"/>
              <a:t> cola </a:t>
            </a:r>
            <a:r>
              <a:rPr dirty="0" err="1"/>
              <a:t>larga</a:t>
            </a:r>
            <a:r>
              <a:rPr dirty="0"/>
              <a:t> que arrastra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promedio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El </a:t>
            </a:r>
            <a:r>
              <a:rPr dirty="0" err="1"/>
              <a:t>rezago</a:t>
            </a:r>
            <a:r>
              <a:rPr dirty="0"/>
              <a:t> </a:t>
            </a:r>
            <a:r>
              <a:rPr dirty="0" err="1"/>
              <a:t>tampoco</a:t>
            </a:r>
            <a:r>
              <a:rPr dirty="0"/>
              <a:t> se </a:t>
            </a:r>
            <a:r>
              <a:rPr dirty="0" err="1"/>
              <a:t>reparte</a:t>
            </a:r>
            <a:r>
              <a:rPr dirty="0"/>
              <a:t> de forma pareja.</a:t>
            </a:r>
          </a:p>
          <a:p>
            <a:endParaRPr dirty="0"/>
          </a:p>
          <a:p>
            <a:r>
              <a:rPr dirty="0"/>
              <a:t>Por </a:t>
            </a:r>
            <a:r>
              <a:rPr dirty="0" err="1"/>
              <a:t>área</a:t>
            </a:r>
            <a:r>
              <a:rPr dirty="0"/>
              <a:t> de </a:t>
            </a:r>
            <a:r>
              <a:rPr dirty="0" err="1"/>
              <a:t>conocimiento</a:t>
            </a:r>
            <a:r>
              <a:rPr dirty="0"/>
              <a:t>, Derecho </a:t>
            </a:r>
            <a:r>
              <a:rPr dirty="0" err="1"/>
              <a:t>triplica</a:t>
            </a:r>
            <a:r>
              <a:rPr dirty="0"/>
              <a:t> a </a:t>
            </a:r>
            <a:r>
              <a:rPr dirty="0" err="1"/>
              <a:t>Educación</a:t>
            </a:r>
            <a:r>
              <a:rPr dirty="0"/>
              <a:t>: 5,77 </a:t>
            </a:r>
            <a:r>
              <a:rPr dirty="0" err="1"/>
              <a:t>semestres</a:t>
            </a:r>
            <a:r>
              <a:rPr dirty="0"/>
              <a:t> </a:t>
            </a:r>
            <a:r>
              <a:rPr dirty="0" err="1"/>
              <a:t>frente</a:t>
            </a:r>
            <a:r>
              <a:rPr dirty="0"/>
              <a:t> a 1,93.</a:t>
            </a:r>
          </a:p>
          <a:p>
            <a:r>
              <a:rPr dirty="0" err="1"/>
              <a:t>Casi</a:t>
            </a:r>
            <a:r>
              <a:rPr dirty="0"/>
              <a:t> cuatro </a:t>
            </a:r>
            <a:r>
              <a:rPr dirty="0" err="1"/>
              <a:t>semestres</a:t>
            </a:r>
            <a:r>
              <a:rPr dirty="0"/>
              <a:t>, dos </a:t>
            </a:r>
            <a:r>
              <a:rPr dirty="0" err="1"/>
              <a:t>años</a:t>
            </a:r>
            <a:r>
              <a:rPr dirty="0"/>
              <a:t>, </a:t>
            </a:r>
            <a:r>
              <a:rPr dirty="0" err="1"/>
              <a:t>separan</a:t>
            </a:r>
            <a:r>
              <a:rPr dirty="0"/>
              <a:t> a la </a:t>
            </a:r>
            <a:r>
              <a:rPr dirty="0" err="1"/>
              <a:t>carrera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rezagada</a:t>
            </a:r>
            <a:r>
              <a:rPr dirty="0"/>
              <a:t> de la </a:t>
            </a:r>
            <a:r>
              <a:rPr dirty="0" err="1"/>
              <a:t>menos</a:t>
            </a:r>
            <a:r>
              <a:rPr dirty="0"/>
              <a:t> </a:t>
            </a:r>
            <a:r>
              <a:rPr dirty="0" err="1"/>
              <a:t>rezagada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Por </a:t>
            </a:r>
            <a:r>
              <a:rPr dirty="0" err="1"/>
              <a:t>tipo</a:t>
            </a:r>
            <a:r>
              <a:rPr dirty="0"/>
              <a:t> de </a:t>
            </a:r>
            <a:r>
              <a:rPr dirty="0" err="1"/>
              <a:t>institución</a:t>
            </a:r>
            <a:r>
              <a:rPr dirty="0"/>
              <a:t>, las </a:t>
            </a:r>
            <a:r>
              <a:rPr dirty="0" err="1"/>
              <a:t>universidades</a:t>
            </a:r>
            <a:r>
              <a:rPr dirty="0"/>
              <a:t> </a:t>
            </a:r>
            <a:r>
              <a:rPr dirty="0" err="1"/>
              <a:t>acumulan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rezago</a:t>
            </a:r>
            <a:r>
              <a:rPr dirty="0"/>
              <a:t> que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institutos</a:t>
            </a:r>
            <a:endParaRPr dirty="0"/>
          </a:p>
          <a:p>
            <a:r>
              <a:rPr dirty="0" err="1"/>
              <a:t>profesionales</a:t>
            </a:r>
            <a:r>
              <a:rPr dirty="0"/>
              <a:t> y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tasa</a:t>
            </a:r>
            <a:r>
              <a:rPr dirty="0"/>
              <a:t> de </a:t>
            </a:r>
            <a:r>
              <a:rPr dirty="0" err="1"/>
              <a:t>titulación</a:t>
            </a:r>
            <a:r>
              <a:rPr dirty="0"/>
              <a:t> </a:t>
            </a:r>
            <a:r>
              <a:rPr dirty="0" err="1"/>
              <a:t>oportuna</a:t>
            </a:r>
            <a:r>
              <a:rPr dirty="0"/>
              <a:t> es </a:t>
            </a:r>
            <a:r>
              <a:rPr dirty="0" err="1"/>
              <a:t>menos</a:t>
            </a:r>
            <a:r>
              <a:rPr dirty="0"/>
              <a:t> de la </a:t>
            </a:r>
            <a:r>
              <a:rPr dirty="0" err="1"/>
              <a:t>mitad</a:t>
            </a:r>
            <a:r>
              <a:rPr dirty="0"/>
              <a:t>. </a:t>
            </a:r>
            <a:r>
              <a:rPr dirty="0" err="1"/>
              <a:t>Eso</a:t>
            </a:r>
            <a:r>
              <a:rPr dirty="0"/>
              <a:t> </a:t>
            </a:r>
            <a:r>
              <a:rPr dirty="0" err="1"/>
              <a:t>sugiere</a:t>
            </a:r>
            <a:r>
              <a:rPr dirty="0"/>
              <a:t> que la</a:t>
            </a:r>
          </a:p>
          <a:p>
            <a:r>
              <a:rPr dirty="0" err="1"/>
              <a:t>duración</a:t>
            </a:r>
            <a:r>
              <a:rPr dirty="0"/>
              <a:t> </a:t>
            </a:r>
            <a:r>
              <a:rPr dirty="0" err="1"/>
              <a:t>declarada</a:t>
            </a:r>
            <a:r>
              <a:rPr dirty="0"/>
              <a:t> es </a:t>
            </a:r>
            <a:r>
              <a:rPr dirty="0" err="1"/>
              <a:t>menos</a:t>
            </a:r>
            <a:r>
              <a:rPr dirty="0"/>
              <a:t> </a:t>
            </a:r>
            <a:r>
              <a:rPr dirty="0" err="1"/>
              <a:t>realista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carreras</a:t>
            </a:r>
            <a:r>
              <a:rPr dirty="0"/>
              <a:t> </a:t>
            </a:r>
            <a:r>
              <a:rPr dirty="0" err="1"/>
              <a:t>universitarias</a:t>
            </a:r>
            <a:r>
              <a:rPr dirty="0"/>
              <a:t> </a:t>
            </a:r>
            <a:r>
              <a:rPr dirty="0" err="1"/>
              <a:t>largas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Y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género</a:t>
            </a:r>
            <a:r>
              <a:rPr dirty="0"/>
              <a:t>, las </a:t>
            </a:r>
            <a:r>
              <a:rPr dirty="0" err="1"/>
              <a:t>mujeres</a:t>
            </a:r>
            <a:r>
              <a:rPr dirty="0"/>
              <a:t> se </a:t>
            </a:r>
            <a:r>
              <a:rPr dirty="0" err="1"/>
              <a:t>titulan</a:t>
            </a:r>
            <a:r>
              <a:rPr dirty="0"/>
              <a:t> 0 coma 93 </a:t>
            </a:r>
            <a:r>
              <a:rPr dirty="0" err="1"/>
              <a:t>semestres</a:t>
            </a:r>
            <a:r>
              <a:rPr dirty="0"/>
              <a:t> antes. Lo </a:t>
            </a:r>
            <a:r>
              <a:rPr dirty="0" err="1"/>
              <a:t>importante</a:t>
            </a:r>
            <a:r>
              <a:rPr dirty="0"/>
              <a:t> del panel</a:t>
            </a:r>
          </a:p>
          <a:p>
            <a:r>
              <a:rPr dirty="0"/>
              <a:t>derecho es que la </a:t>
            </a:r>
            <a:r>
              <a:rPr dirty="0" err="1"/>
              <a:t>brecha</a:t>
            </a:r>
            <a:r>
              <a:rPr dirty="0"/>
              <a:t> se </a:t>
            </a:r>
            <a:r>
              <a:rPr dirty="0" err="1"/>
              <a:t>sostiene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las </a:t>
            </a:r>
            <a:r>
              <a:rPr dirty="0" err="1"/>
              <a:t>diez</a:t>
            </a:r>
            <a:r>
              <a:rPr dirty="0"/>
              <a:t> </a:t>
            </a:r>
            <a:r>
              <a:rPr dirty="0" err="1"/>
              <a:t>áreas</a:t>
            </a:r>
            <a:r>
              <a:rPr dirty="0"/>
              <a:t> sin </a:t>
            </a:r>
            <a:r>
              <a:rPr dirty="0" err="1"/>
              <a:t>excepción</a:t>
            </a:r>
            <a:r>
              <a:rPr dirty="0"/>
              <a:t>: no es que </a:t>
            </a:r>
            <a:r>
              <a:rPr dirty="0" err="1"/>
              <a:t>estudien</a:t>
            </a:r>
            <a:endParaRPr dirty="0"/>
          </a:p>
          <a:p>
            <a:r>
              <a:rPr dirty="0" err="1"/>
              <a:t>carreras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cortas</a:t>
            </a:r>
            <a:r>
              <a:rPr dirty="0"/>
              <a:t>, es que </a:t>
            </a:r>
            <a:r>
              <a:rPr dirty="0" err="1"/>
              <a:t>dentro</a:t>
            </a:r>
            <a:r>
              <a:rPr dirty="0"/>
              <a:t> de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área</a:t>
            </a:r>
            <a:r>
              <a:rPr dirty="0"/>
              <a:t> se </a:t>
            </a:r>
            <a:r>
              <a:rPr dirty="0" err="1"/>
              <a:t>titulan</a:t>
            </a:r>
            <a:r>
              <a:rPr dirty="0"/>
              <a:t> 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Este </a:t>
            </a:r>
            <a:r>
              <a:rPr dirty="0" err="1"/>
              <a:t>hallazgo</a:t>
            </a:r>
            <a:r>
              <a:rPr dirty="0"/>
              <a:t> no </a:t>
            </a:r>
            <a:r>
              <a:rPr dirty="0" err="1"/>
              <a:t>estaba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ninguna</a:t>
            </a:r>
            <a:r>
              <a:rPr dirty="0"/>
              <a:t> de las </a:t>
            </a:r>
            <a:r>
              <a:rPr dirty="0" err="1"/>
              <a:t>fases</a:t>
            </a:r>
            <a:r>
              <a:rPr dirty="0"/>
              <a:t> </a:t>
            </a:r>
            <a:r>
              <a:rPr dirty="0" err="1"/>
              <a:t>anteriores</a:t>
            </a:r>
            <a:r>
              <a:rPr dirty="0"/>
              <a:t>; </a:t>
            </a:r>
            <a:r>
              <a:rPr dirty="0" err="1"/>
              <a:t>apareció</a:t>
            </a:r>
            <a:r>
              <a:rPr dirty="0"/>
              <a:t> al </a:t>
            </a:r>
            <a:r>
              <a:rPr dirty="0" err="1"/>
              <a:t>mirar</a:t>
            </a:r>
            <a:r>
              <a:rPr dirty="0"/>
              <a:t> la </a:t>
            </a:r>
            <a:r>
              <a:rPr dirty="0" err="1"/>
              <a:t>serie</a:t>
            </a:r>
            <a:endParaRPr dirty="0"/>
          </a:p>
          <a:p>
            <a:r>
              <a:rPr dirty="0"/>
              <a:t>semestral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vez</a:t>
            </a:r>
            <a:r>
              <a:rPr dirty="0"/>
              <a:t> del </a:t>
            </a:r>
            <a:r>
              <a:rPr dirty="0" err="1"/>
              <a:t>promedio</a:t>
            </a:r>
            <a:r>
              <a:rPr dirty="0"/>
              <a:t> </a:t>
            </a:r>
            <a:r>
              <a:rPr dirty="0" err="1"/>
              <a:t>agregado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En 2020 se </a:t>
            </a:r>
            <a:r>
              <a:rPr dirty="0" err="1"/>
              <a:t>titularon</a:t>
            </a:r>
            <a:r>
              <a:rPr dirty="0"/>
              <a:t> </a:t>
            </a:r>
            <a:r>
              <a:rPr dirty="0" err="1"/>
              <a:t>unas</a:t>
            </a:r>
            <a:r>
              <a:rPr dirty="0"/>
              <a:t> 87 mil personas </a:t>
            </a:r>
            <a:r>
              <a:rPr dirty="0" err="1"/>
              <a:t>menos</a:t>
            </a:r>
            <a:r>
              <a:rPr dirty="0"/>
              <a:t> que </a:t>
            </a:r>
            <a:r>
              <a:rPr dirty="0" err="1"/>
              <a:t>en</a:t>
            </a:r>
            <a:r>
              <a:rPr dirty="0"/>
              <a:t> un </a:t>
            </a:r>
            <a:r>
              <a:rPr dirty="0" err="1"/>
              <a:t>año</a:t>
            </a:r>
            <a:r>
              <a:rPr dirty="0"/>
              <a:t> normal, y la </a:t>
            </a:r>
            <a:r>
              <a:rPr dirty="0" err="1"/>
              <a:t>sobreduración</a:t>
            </a:r>
            <a:endParaRPr dirty="0"/>
          </a:p>
          <a:p>
            <a:r>
              <a:rPr dirty="0"/>
              <a:t>media </a:t>
            </a:r>
            <a:r>
              <a:rPr dirty="0" err="1"/>
              <a:t>tocó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mínimo</a:t>
            </a:r>
            <a:r>
              <a:rPr dirty="0"/>
              <a:t>. En 2021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volumen</a:t>
            </a:r>
            <a:r>
              <a:rPr dirty="0"/>
              <a:t> se </a:t>
            </a:r>
            <a:r>
              <a:rPr dirty="0" err="1"/>
              <a:t>recuperó</a:t>
            </a:r>
            <a:r>
              <a:rPr dirty="0"/>
              <a:t> y la </a:t>
            </a:r>
            <a:r>
              <a:rPr dirty="0" err="1"/>
              <a:t>sobreduración</a:t>
            </a:r>
            <a:r>
              <a:rPr dirty="0"/>
              <a:t> </a:t>
            </a:r>
            <a:r>
              <a:rPr dirty="0" err="1"/>
              <a:t>alcanzó</a:t>
            </a:r>
            <a:r>
              <a:rPr dirty="0"/>
              <a:t> </a:t>
            </a:r>
            <a:r>
              <a:rPr dirty="0" err="1"/>
              <a:t>su</a:t>
            </a:r>
            <a:endParaRPr dirty="0"/>
          </a:p>
          <a:p>
            <a:r>
              <a:rPr dirty="0" err="1"/>
              <a:t>máximo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La </a:t>
            </a:r>
            <a:r>
              <a:rPr dirty="0" err="1"/>
              <a:t>tentación</a:t>
            </a:r>
            <a:r>
              <a:rPr dirty="0"/>
              <a:t> es </a:t>
            </a:r>
            <a:r>
              <a:rPr dirty="0" err="1"/>
              <a:t>decir</a:t>
            </a:r>
            <a:r>
              <a:rPr dirty="0"/>
              <a:t> que 2020 </a:t>
            </a:r>
            <a:r>
              <a:rPr dirty="0" err="1"/>
              <a:t>fue</a:t>
            </a:r>
            <a:r>
              <a:rPr dirty="0"/>
              <a:t> un </a:t>
            </a:r>
            <a:r>
              <a:rPr dirty="0" err="1"/>
              <a:t>buen</a:t>
            </a:r>
            <a:r>
              <a:rPr dirty="0"/>
              <a:t> </a:t>
            </a:r>
            <a:r>
              <a:rPr dirty="0" err="1"/>
              <a:t>año</a:t>
            </a:r>
            <a:r>
              <a:rPr dirty="0"/>
              <a:t>. Pero no: las </a:t>
            </a:r>
            <a:r>
              <a:rPr dirty="0" err="1"/>
              <a:t>titulaciones</a:t>
            </a:r>
            <a:r>
              <a:rPr dirty="0"/>
              <a:t> se</a:t>
            </a:r>
          </a:p>
          <a:p>
            <a:r>
              <a:rPr dirty="0"/>
              <a:t>POSTERGARON. </a:t>
            </a:r>
            <a:r>
              <a:rPr dirty="0" err="1"/>
              <a:t>Quienes</a:t>
            </a:r>
            <a:r>
              <a:rPr dirty="0"/>
              <a:t> </a:t>
            </a:r>
            <a:r>
              <a:rPr dirty="0" err="1"/>
              <a:t>debían</a:t>
            </a:r>
            <a:r>
              <a:rPr dirty="0"/>
              <a:t> </a:t>
            </a:r>
            <a:r>
              <a:rPr dirty="0" err="1"/>
              <a:t>egresar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2020 lo </a:t>
            </a:r>
            <a:r>
              <a:rPr dirty="0" err="1"/>
              <a:t>hicieron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2021, con uno o dos </a:t>
            </a:r>
            <a:r>
              <a:rPr dirty="0" err="1"/>
              <a:t>semestres</a:t>
            </a:r>
            <a:endParaRPr dirty="0"/>
          </a:p>
          <a:p>
            <a:r>
              <a:rPr dirty="0" err="1"/>
              <a:t>adicionales</a:t>
            </a:r>
            <a:r>
              <a:rPr dirty="0"/>
              <a:t> </a:t>
            </a:r>
            <a:r>
              <a:rPr dirty="0" err="1"/>
              <a:t>encima</a:t>
            </a:r>
            <a:r>
              <a:rPr dirty="0"/>
              <a:t>. El </a:t>
            </a:r>
            <a:r>
              <a:rPr dirty="0" err="1"/>
              <a:t>mínimo</a:t>
            </a:r>
            <a:r>
              <a:rPr dirty="0"/>
              <a:t> y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máximo</a:t>
            </a:r>
            <a:r>
              <a:rPr dirty="0"/>
              <a:t> son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mismo</a:t>
            </a:r>
            <a:r>
              <a:rPr dirty="0"/>
              <a:t> </a:t>
            </a:r>
            <a:r>
              <a:rPr dirty="0" err="1"/>
              <a:t>fenómeno</a:t>
            </a:r>
            <a:r>
              <a:rPr dirty="0"/>
              <a:t> visto </a:t>
            </a:r>
            <a:r>
              <a:rPr dirty="0" err="1"/>
              <a:t>en</a:t>
            </a:r>
            <a:r>
              <a:rPr dirty="0"/>
              <a:t> dos </a:t>
            </a:r>
            <a:r>
              <a:rPr dirty="0" err="1"/>
              <a:t>momentos</a:t>
            </a:r>
            <a:r>
              <a:rPr dirty="0"/>
              <a:t>, y</a:t>
            </a:r>
          </a:p>
          <a:p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mecanismo</a:t>
            </a:r>
            <a:r>
              <a:rPr dirty="0"/>
              <a:t> es de </a:t>
            </a:r>
            <a:r>
              <a:rPr dirty="0" err="1"/>
              <a:t>desplazamiento</a:t>
            </a:r>
            <a:r>
              <a:rPr dirty="0"/>
              <a:t> </a:t>
            </a:r>
            <a:r>
              <a:rPr dirty="0" err="1"/>
              <a:t>administrativo</a:t>
            </a:r>
            <a:r>
              <a:rPr dirty="0"/>
              <a:t>, no de </a:t>
            </a:r>
            <a:r>
              <a:rPr dirty="0" err="1"/>
              <a:t>deterioro</a:t>
            </a:r>
            <a:r>
              <a:rPr dirty="0"/>
              <a:t> </a:t>
            </a:r>
            <a:r>
              <a:rPr dirty="0" err="1"/>
              <a:t>académico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Y </a:t>
            </a:r>
            <a:r>
              <a:rPr dirty="0" err="1"/>
              <a:t>aquí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limitación</a:t>
            </a:r>
            <a:r>
              <a:rPr dirty="0"/>
              <a:t> que </a:t>
            </a:r>
            <a:r>
              <a:rPr dirty="0" err="1"/>
              <a:t>condiciona</a:t>
            </a:r>
            <a:r>
              <a:rPr dirty="0"/>
              <a:t> </a:t>
            </a:r>
            <a:r>
              <a:rPr dirty="0" err="1"/>
              <a:t>todo</a:t>
            </a:r>
            <a:r>
              <a:rPr dirty="0"/>
              <a:t> lo anterior, y que </a:t>
            </a:r>
            <a:r>
              <a:rPr dirty="0" err="1"/>
              <a:t>creo</a:t>
            </a:r>
            <a:r>
              <a:rPr dirty="0"/>
              <a:t> que es uno de </a:t>
            </a:r>
            <a:r>
              <a:rPr dirty="0" err="1"/>
              <a:t>los</a:t>
            </a:r>
            <a:endParaRPr dirty="0"/>
          </a:p>
          <a:p>
            <a:r>
              <a:rPr dirty="0" err="1"/>
              <a:t>resultados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valiosos</a:t>
            </a:r>
            <a:r>
              <a:rPr dirty="0"/>
              <a:t> del </a:t>
            </a:r>
            <a:r>
              <a:rPr dirty="0" err="1"/>
              <a:t>proyecto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Una base de </a:t>
            </a:r>
            <a:r>
              <a:rPr dirty="0" err="1"/>
              <a:t>titulados</a:t>
            </a:r>
            <a:r>
              <a:rPr dirty="0"/>
              <a:t> solo </a:t>
            </a:r>
            <a:r>
              <a:rPr dirty="0" err="1"/>
              <a:t>contiene</a:t>
            </a:r>
            <a:r>
              <a:rPr dirty="0"/>
              <a:t> a </a:t>
            </a:r>
            <a:r>
              <a:rPr dirty="0" err="1"/>
              <a:t>quien</a:t>
            </a:r>
            <a:r>
              <a:rPr dirty="0"/>
              <a:t> </a:t>
            </a:r>
            <a:r>
              <a:rPr dirty="0" err="1"/>
              <a:t>terminó</a:t>
            </a:r>
            <a:r>
              <a:rPr dirty="0"/>
              <a:t>. De las </a:t>
            </a:r>
            <a:r>
              <a:rPr dirty="0" err="1"/>
              <a:t>cohortes</a:t>
            </a:r>
            <a:r>
              <a:rPr dirty="0"/>
              <a:t> </a:t>
            </a:r>
            <a:r>
              <a:rPr dirty="0" err="1"/>
              <a:t>recientes</a:t>
            </a:r>
            <a:r>
              <a:rPr dirty="0"/>
              <a:t> solo se</a:t>
            </a:r>
          </a:p>
          <a:p>
            <a:r>
              <a:rPr dirty="0" err="1"/>
              <a:t>han</a:t>
            </a:r>
            <a:r>
              <a:rPr dirty="0"/>
              <a:t> </a:t>
            </a:r>
            <a:r>
              <a:rPr dirty="0" err="1"/>
              <a:t>titulado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excepcionalmente</a:t>
            </a:r>
            <a:r>
              <a:rPr dirty="0"/>
              <a:t> </a:t>
            </a:r>
            <a:r>
              <a:rPr dirty="0" err="1"/>
              <a:t>rápidos</a:t>
            </a:r>
            <a:r>
              <a:rPr dirty="0"/>
              <a:t>, </a:t>
            </a:r>
            <a:r>
              <a:rPr dirty="0" err="1"/>
              <a:t>porque</a:t>
            </a:r>
            <a:r>
              <a:rPr dirty="0"/>
              <a:t> son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únicos</a:t>
            </a:r>
            <a:r>
              <a:rPr dirty="0"/>
              <a:t> que </a:t>
            </a:r>
            <a:r>
              <a:rPr dirty="0" err="1"/>
              <a:t>alcanzaron</a:t>
            </a:r>
            <a:r>
              <a:rPr dirty="0"/>
              <a:t> a</a:t>
            </a:r>
          </a:p>
          <a:p>
            <a:r>
              <a:rPr dirty="0" err="1"/>
              <a:t>hacerlo</a:t>
            </a:r>
            <a:r>
              <a:rPr dirty="0"/>
              <a:t>. De las </a:t>
            </a:r>
            <a:r>
              <a:rPr dirty="0" err="1"/>
              <a:t>cohortes</a:t>
            </a:r>
            <a:r>
              <a:rPr dirty="0"/>
              <a:t> </a:t>
            </a:r>
            <a:r>
              <a:rPr dirty="0" err="1"/>
              <a:t>antiguas</a:t>
            </a:r>
            <a:r>
              <a:rPr dirty="0"/>
              <a:t>,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cambio</a:t>
            </a:r>
            <a:r>
              <a:rPr dirty="0"/>
              <a:t>, </a:t>
            </a:r>
            <a:r>
              <a:rPr dirty="0" err="1"/>
              <a:t>los</a:t>
            </a:r>
            <a:r>
              <a:rPr dirty="0"/>
              <a:t> que </a:t>
            </a:r>
            <a:r>
              <a:rPr dirty="0" err="1"/>
              <a:t>aparecen</a:t>
            </a:r>
            <a:r>
              <a:rPr dirty="0"/>
              <a:t> son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extremadamente</a:t>
            </a:r>
            <a:endParaRPr dirty="0"/>
          </a:p>
          <a:p>
            <a:r>
              <a:rPr dirty="0" err="1"/>
              <a:t>rezagados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Ninguna</a:t>
            </a:r>
            <a:r>
              <a:rPr dirty="0"/>
              <a:t> </a:t>
            </a:r>
            <a:r>
              <a:rPr dirty="0" err="1"/>
              <a:t>cohorte</a:t>
            </a:r>
            <a:r>
              <a:rPr dirty="0"/>
              <a:t>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completa</a:t>
            </a:r>
            <a:r>
              <a:rPr dirty="0"/>
              <a:t>, y lo </a:t>
            </a:r>
            <a:r>
              <a:rPr dirty="0" err="1"/>
              <a:t>están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direcciones</a:t>
            </a:r>
            <a:r>
              <a:rPr dirty="0"/>
              <a:t> </a:t>
            </a:r>
            <a:r>
              <a:rPr dirty="0" err="1"/>
              <a:t>opuestas</a:t>
            </a:r>
            <a:r>
              <a:rPr dirty="0"/>
              <a:t>. Por </a:t>
            </a:r>
            <a:r>
              <a:rPr dirty="0" err="1"/>
              <a:t>eso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descenso</a:t>
            </a:r>
            <a:endParaRPr dirty="0"/>
          </a:p>
          <a:p>
            <a:r>
              <a:rPr dirty="0"/>
              <a:t>de la </a:t>
            </a:r>
            <a:r>
              <a:rPr dirty="0" err="1"/>
              <a:t>serie</a:t>
            </a:r>
            <a:r>
              <a:rPr dirty="0"/>
              <a:t> </a:t>
            </a:r>
            <a:r>
              <a:rPr dirty="0" err="1"/>
              <a:t>desde</a:t>
            </a:r>
            <a:r>
              <a:rPr dirty="0"/>
              <a:t> 2024 no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leerse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mejora</a:t>
            </a:r>
            <a:r>
              <a:rPr dirty="0"/>
              <a:t> del </a:t>
            </a:r>
            <a:r>
              <a:rPr dirty="0" err="1"/>
              <a:t>sistema</a:t>
            </a:r>
            <a:r>
              <a:rPr dirty="0"/>
              <a:t>. Es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limitación</a:t>
            </a:r>
            <a:r>
              <a:rPr dirty="0"/>
              <a:t> de</a:t>
            </a:r>
          </a:p>
          <a:p>
            <a:r>
              <a:rPr dirty="0"/>
              <a:t>la </a:t>
            </a:r>
            <a:r>
              <a:rPr dirty="0" err="1"/>
              <a:t>fuente</a:t>
            </a:r>
            <a:r>
              <a:rPr dirty="0"/>
              <a:t>, no del </a:t>
            </a:r>
            <a:r>
              <a:rPr dirty="0" err="1"/>
              <a:t>procesamiento</a:t>
            </a:r>
            <a:r>
              <a:rPr dirty="0"/>
              <a:t>, y </a:t>
            </a:r>
            <a:r>
              <a:rPr dirty="0" err="1"/>
              <a:t>declararla</a:t>
            </a:r>
            <a:r>
              <a:rPr dirty="0"/>
              <a:t> es </a:t>
            </a:r>
            <a:r>
              <a:rPr dirty="0" err="1"/>
              <a:t>parte</a:t>
            </a:r>
            <a:r>
              <a:rPr dirty="0"/>
              <a:t> del </a:t>
            </a:r>
            <a:r>
              <a:rPr dirty="0" err="1"/>
              <a:t>resultado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trabajo</a:t>
            </a:r>
            <a:r>
              <a:rPr dirty="0"/>
              <a:t> </a:t>
            </a:r>
            <a:r>
              <a:rPr dirty="0" err="1"/>
              <a:t>técnico</a:t>
            </a:r>
            <a:r>
              <a:rPr dirty="0"/>
              <a:t>: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proyecto</a:t>
            </a:r>
            <a:r>
              <a:rPr dirty="0"/>
              <a:t> </a:t>
            </a:r>
            <a:r>
              <a:rPr dirty="0" err="1"/>
              <a:t>tiene</a:t>
            </a:r>
            <a:r>
              <a:rPr dirty="0"/>
              <a:t> 73 </a:t>
            </a:r>
            <a:r>
              <a:rPr dirty="0" err="1"/>
              <a:t>pruebas</a:t>
            </a:r>
            <a:r>
              <a:rPr dirty="0"/>
              <a:t> </a:t>
            </a:r>
            <a:r>
              <a:rPr dirty="0" err="1"/>
              <a:t>automatizadas</a:t>
            </a:r>
            <a:r>
              <a:rPr dirty="0"/>
              <a:t> que </a:t>
            </a:r>
            <a:r>
              <a:rPr dirty="0" err="1"/>
              <a:t>cubren</a:t>
            </a:r>
            <a:r>
              <a:rPr dirty="0"/>
              <a:t> </a:t>
            </a:r>
            <a:r>
              <a:rPr dirty="0" err="1"/>
              <a:t>casos</a:t>
            </a:r>
            <a:endParaRPr dirty="0"/>
          </a:p>
          <a:p>
            <a:r>
              <a:rPr dirty="0" err="1"/>
              <a:t>normales</a:t>
            </a:r>
            <a:r>
              <a:rPr dirty="0"/>
              <a:t>, </a:t>
            </a:r>
            <a:r>
              <a:rPr dirty="0" err="1"/>
              <a:t>límite</a:t>
            </a:r>
            <a:r>
              <a:rPr dirty="0"/>
              <a:t> y </a:t>
            </a:r>
            <a:r>
              <a:rPr dirty="0" err="1"/>
              <a:t>excepciones</a:t>
            </a:r>
            <a:r>
              <a:rPr dirty="0"/>
              <a:t>, y 9 </a:t>
            </a:r>
            <a:r>
              <a:rPr dirty="0" err="1"/>
              <a:t>reglas</a:t>
            </a:r>
            <a:r>
              <a:rPr dirty="0"/>
              <a:t> de </a:t>
            </a:r>
            <a:r>
              <a:rPr dirty="0" err="1"/>
              <a:t>coherencia</a:t>
            </a:r>
            <a:r>
              <a:rPr dirty="0"/>
              <a:t> del </a:t>
            </a:r>
            <a:r>
              <a:rPr dirty="0" err="1"/>
              <a:t>dominio</a:t>
            </a:r>
            <a:r>
              <a:rPr dirty="0"/>
              <a:t>, </a:t>
            </a:r>
            <a:r>
              <a:rPr dirty="0" err="1"/>
              <a:t>todas</a:t>
            </a:r>
            <a:r>
              <a:rPr dirty="0"/>
              <a:t> </a:t>
            </a:r>
            <a:r>
              <a:rPr dirty="0" err="1"/>
              <a:t>aprobadas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Los </a:t>
            </a:r>
            <a:r>
              <a:rPr dirty="0" err="1"/>
              <a:t>algoritmos</a:t>
            </a:r>
            <a:r>
              <a:rPr dirty="0"/>
              <a:t> se </a:t>
            </a:r>
            <a:r>
              <a:rPr dirty="0" err="1"/>
              <a:t>implementaron</a:t>
            </a:r>
            <a:r>
              <a:rPr dirty="0"/>
              <a:t> </a:t>
            </a:r>
            <a:r>
              <a:rPr dirty="0" err="1"/>
              <a:t>desde</a:t>
            </a:r>
            <a:r>
              <a:rPr dirty="0"/>
              <a:t> cero y se </a:t>
            </a:r>
            <a:r>
              <a:rPr dirty="0" err="1"/>
              <a:t>verificaron</a:t>
            </a:r>
            <a:r>
              <a:rPr dirty="0"/>
              <a:t> contra pandas, sorted y</a:t>
            </a:r>
          </a:p>
          <a:p>
            <a:r>
              <a:rPr dirty="0"/>
              <a:t>NumPy ANTES de </a:t>
            </a:r>
            <a:r>
              <a:rPr dirty="0" err="1"/>
              <a:t>medir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tiempo</a:t>
            </a:r>
            <a:r>
              <a:rPr dirty="0"/>
              <a:t>: </a:t>
            </a:r>
            <a:r>
              <a:rPr dirty="0" err="1"/>
              <a:t>medir</a:t>
            </a:r>
            <a:r>
              <a:rPr dirty="0"/>
              <a:t> un </a:t>
            </a:r>
            <a:r>
              <a:rPr dirty="0" err="1"/>
              <a:t>algoritmo</a:t>
            </a:r>
            <a:r>
              <a:rPr dirty="0"/>
              <a:t> </a:t>
            </a:r>
            <a:r>
              <a:rPr dirty="0" err="1"/>
              <a:t>incorrecto</a:t>
            </a:r>
            <a:r>
              <a:rPr dirty="0"/>
              <a:t> no </a:t>
            </a:r>
            <a:r>
              <a:rPr dirty="0" err="1"/>
              <a:t>tiene</a:t>
            </a:r>
            <a:r>
              <a:rPr dirty="0"/>
              <a:t> </a:t>
            </a:r>
            <a:r>
              <a:rPr dirty="0" err="1"/>
              <a:t>sentido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Las curvas log-log </a:t>
            </a:r>
            <a:r>
              <a:rPr dirty="0" err="1"/>
              <a:t>confirmaron</a:t>
            </a:r>
            <a:r>
              <a:rPr dirty="0"/>
              <a:t> las </a:t>
            </a:r>
            <a:r>
              <a:rPr dirty="0" err="1"/>
              <a:t>cotas</a:t>
            </a:r>
            <a:r>
              <a:rPr dirty="0"/>
              <a:t> </a:t>
            </a:r>
            <a:r>
              <a:rPr dirty="0" err="1"/>
              <a:t>teóricas</a:t>
            </a:r>
            <a:r>
              <a:rPr dirty="0"/>
              <a:t>, </a:t>
            </a:r>
            <a:r>
              <a:rPr dirty="0" err="1"/>
              <a:t>pero</a:t>
            </a:r>
            <a:r>
              <a:rPr dirty="0"/>
              <a:t> </a:t>
            </a:r>
            <a:r>
              <a:rPr dirty="0" err="1"/>
              <a:t>también</a:t>
            </a:r>
            <a:r>
              <a:rPr dirty="0"/>
              <a:t> </a:t>
            </a:r>
            <a:r>
              <a:rPr dirty="0" err="1"/>
              <a:t>mostraron</a:t>
            </a:r>
            <a:r>
              <a:rPr dirty="0"/>
              <a:t> </a:t>
            </a:r>
            <a:r>
              <a:rPr dirty="0" err="1"/>
              <a:t>dónde</a:t>
            </a:r>
            <a:r>
              <a:rPr dirty="0"/>
              <a:t> la</a:t>
            </a:r>
          </a:p>
          <a:p>
            <a:r>
              <a:rPr dirty="0" err="1"/>
              <a:t>teoría</a:t>
            </a:r>
            <a:r>
              <a:rPr dirty="0"/>
              <a:t> no basta: </a:t>
            </a:r>
            <a:r>
              <a:rPr dirty="0" err="1"/>
              <a:t>quickselect</a:t>
            </a:r>
            <a:r>
              <a:rPr dirty="0"/>
              <a:t> es </a:t>
            </a:r>
            <a:r>
              <a:rPr dirty="0" err="1"/>
              <a:t>orden</a:t>
            </a:r>
            <a:r>
              <a:rPr dirty="0"/>
              <a:t> n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comparaciones</a:t>
            </a:r>
            <a:r>
              <a:rPr dirty="0"/>
              <a:t> y sin embargo </a:t>
            </a:r>
            <a:r>
              <a:rPr dirty="0" err="1"/>
              <a:t>escala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n</a:t>
            </a:r>
          </a:p>
          <a:p>
            <a:r>
              <a:rPr dirty="0" err="1"/>
              <a:t>elevado</a:t>
            </a:r>
            <a:r>
              <a:rPr dirty="0"/>
              <a:t> a 1,22, </a:t>
            </a:r>
            <a:r>
              <a:rPr dirty="0" err="1"/>
              <a:t>porque</a:t>
            </a:r>
            <a:r>
              <a:rPr dirty="0"/>
              <a:t>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nivel</a:t>
            </a:r>
            <a:r>
              <a:rPr dirty="0"/>
              <a:t> de </a:t>
            </a:r>
            <a:r>
              <a:rPr dirty="0" err="1"/>
              <a:t>recursión</a:t>
            </a:r>
            <a:r>
              <a:rPr dirty="0"/>
              <a:t> </a:t>
            </a:r>
            <a:r>
              <a:rPr dirty="0" err="1"/>
              <a:t>asigna</a:t>
            </a:r>
            <a:r>
              <a:rPr dirty="0"/>
              <a:t> </a:t>
            </a:r>
            <a:r>
              <a:rPr dirty="0" err="1"/>
              <a:t>tres</a:t>
            </a:r>
            <a:r>
              <a:rPr dirty="0"/>
              <a:t> </a:t>
            </a:r>
            <a:r>
              <a:rPr dirty="0" err="1"/>
              <a:t>listas</a:t>
            </a:r>
            <a:r>
              <a:rPr dirty="0"/>
              <a:t> </a:t>
            </a:r>
            <a:r>
              <a:rPr dirty="0" err="1"/>
              <a:t>nuevas</a:t>
            </a:r>
            <a:r>
              <a:rPr dirty="0"/>
              <a:t>. La </a:t>
            </a:r>
            <a:r>
              <a:rPr dirty="0" err="1"/>
              <a:t>cota</a:t>
            </a:r>
            <a:endParaRPr dirty="0"/>
          </a:p>
          <a:p>
            <a:r>
              <a:rPr dirty="0"/>
              <a:t>describe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crecimiento</a:t>
            </a:r>
            <a:r>
              <a:rPr dirty="0"/>
              <a:t>, no la </a:t>
            </a:r>
            <a:r>
              <a:rPr dirty="0" err="1"/>
              <a:t>constante</a:t>
            </a:r>
            <a:r>
              <a:rPr dirty="0"/>
              <a:t>. Ese </a:t>
            </a:r>
            <a:r>
              <a:rPr dirty="0" err="1"/>
              <a:t>contraste</a:t>
            </a:r>
            <a:r>
              <a:rPr dirty="0"/>
              <a:t> </a:t>
            </a:r>
            <a:r>
              <a:rPr dirty="0" err="1"/>
              <a:t>fue</a:t>
            </a:r>
            <a:r>
              <a:rPr dirty="0"/>
              <a:t> uno de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aprendizajes</a:t>
            </a:r>
            <a:endParaRPr dirty="0"/>
          </a:p>
          <a:p>
            <a:r>
              <a:rPr dirty="0" err="1"/>
              <a:t>centrales</a:t>
            </a:r>
            <a:r>
              <a:rPr dirty="0"/>
              <a:t> del </a:t>
            </a:r>
            <a:r>
              <a:rPr dirty="0" err="1"/>
              <a:t>curso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SI EL VIDEO VA LARGO, </a:t>
            </a:r>
            <a:r>
              <a:rPr dirty="0" err="1"/>
              <a:t>recortar</a:t>
            </a:r>
            <a:r>
              <a:rPr dirty="0"/>
              <a:t> </a:t>
            </a:r>
            <a:r>
              <a:rPr dirty="0" err="1"/>
              <a:t>esta</a:t>
            </a:r>
            <a:r>
              <a:rPr dirty="0"/>
              <a:t> </a:t>
            </a:r>
            <a:r>
              <a:rPr dirty="0" err="1"/>
              <a:t>lámina</a:t>
            </a:r>
            <a:r>
              <a:rPr dirty="0"/>
              <a:t> a las dos </a:t>
            </a:r>
            <a:r>
              <a:rPr dirty="0" err="1"/>
              <a:t>primeras</a:t>
            </a:r>
            <a:r>
              <a:rPr dirty="0"/>
              <a:t> </a:t>
            </a:r>
            <a:r>
              <a:rPr dirty="0" err="1"/>
              <a:t>cifras</a:t>
            </a:r>
            <a:r>
              <a:rPr dirty="0"/>
              <a:t> y </a:t>
            </a:r>
            <a:r>
              <a:rPr dirty="0" err="1"/>
              <a:t>omitir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detalle</a:t>
            </a:r>
            <a:endParaRPr dirty="0"/>
          </a:p>
          <a:p>
            <a:r>
              <a:rPr dirty="0"/>
              <a:t>de </a:t>
            </a:r>
            <a:r>
              <a:rPr dirty="0" err="1"/>
              <a:t>quickselect</a:t>
            </a:r>
            <a:r>
              <a:rPr dirty="0"/>
              <a:t>: </a:t>
            </a:r>
            <a:r>
              <a:rPr dirty="0" err="1"/>
              <a:t>ahorra</a:t>
            </a:r>
            <a:r>
              <a:rPr dirty="0"/>
              <a:t> </a:t>
            </a:r>
            <a:r>
              <a:rPr dirty="0" err="1"/>
              <a:t>unos</a:t>
            </a:r>
            <a:r>
              <a:rPr dirty="0"/>
              <a:t> 20 </a:t>
            </a:r>
            <a:r>
              <a:rPr dirty="0" err="1"/>
              <a:t>segundos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En </a:t>
            </a:r>
            <a:r>
              <a:rPr dirty="0" err="1"/>
              <a:t>síntesis</a:t>
            </a:r>
            <a:r>
              <a:rPr dirty="0"/>
              <a:t>, cuatro </a:t>
            </a:r>
            <a:r>
              <a:rPr dirty="0" err="1"/>
              <a:t>conclusiones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El </a:t>
            </a:r>
            <a:r>
              <a:rPr dirty="0" err="1"/>
              <a:t>rezago</a:t>
            </a:r>
            <a:r>
              <a:rPr dirty="0"/>
              <a:t> es </a:t>
            </a:r>
            <a:r>
              <a:rPr dirty="0" err="1"/>
              <a:t>masivo</a:t>
            </a:r>
            <a:r>
              <a:rPr dirty="0"/>
              <a:t> y </a:t>
            </a:r>
            <a:r>
              <a:rPr dirty="0" err="1"/>
              <a:t>estructural</a:t>
            </a:r>
            <a:r>
              <a:rPr dirty="0"/>
              <a:t>, no </a:t>
            </a:r>
            <a:r>
              <a:rPr dirty="0" err="1"/>
              <a:t>aleatorio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La pandemia </a:t>
            </a:r>
            <a:r>
              <a:rPr dirty="0" err="1"/>
              <a:t>desplazó</a:t>
            </a:r>
            <a:r>
              <a:rPr dirty="0"/>
              <a:t> </a:t>
            </a:r>
            <a:r>
              <a:rPr dirty="0" err="1"/>
              <a:t>titulaciones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lugar</a:t>
            </a:r>
            <a:r>
              <a:rPr dirty="0"/>
              <a:t> de </a:t>
            </a:r>
            <a:r>
              <a:rPr dirty="0" err="1"/>
              <a:t>empeorarlas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Los </a:t>
            </a:r>
            <a:r>
              <a:rPr dirty="0" err="1"/>
              <a:t>registros</a:t>
            </a:r>
            <a:r>
              <a:rPr dirty="0"/>
              <a:t> </a:t>
            </a:r>
            <a:r>
              <a:rPr dirty="0" err="1"/>
              <a:t>administrativos</a:t>
            </a:r>
            <a:r>
              <a:rPr dirty="0"/>
              <a:t> no </a:t>
            </a:r>
            <a:r>
              <a:rPr dirty="0" err="1"/>
              <a:t>explican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caso</a:t>
            </a:r>
            <a:r>
              <a:rPr dirty="0"/>
              <a:t> individual: </a:t>
            </a:r>
            <a:r>
              <a:rPr dirty="0" err="1"/>
              <a:t>el</a:t>
            </a:r>
            <a:r>
              <a:rPr dirty="0"/>
              <a:t> R </a:t>
            </a:r>
            <a:r>
              <a:rPr dirty="0" err="1"/>
              <a:t>cuadrado</a:t>
            </a:r>
            <a:r>
              <a:rPr dirty="0"/>
              <a:t> es de 0 coma</a:t>
            </a:r>
          </a:p>
          <a:p>
            <a:r>
              <a:rPr dirty="0"/>
              <a:t>085 y la </a:t>
            </a:r>
            <a:r>
              <a:rPr dirty="0" err="1"/>
              <a:t>clasificación</a:t>
            </a:r>
            <a:r>
              <a:rPr dirty="0"/>
              <a:t> no </a:t>
            </a:r>
            <a:r>
              <a:rPr dirty="0" err="1"/>
              <a:t>supera</a:t>
            </a:r>
            <a:r>
              <a:rPr dirty="0"/>
              <a:t> a </a:t>
            </a:r>
            <a:r>
              <a:rPr dirty="0" err="1"/>
              <a:t>predecir</a:t>
            </a:r>
            <a:r>
              <a:rPr dirty="0"/>
              <a:t> </a:t>
            </a:r>
            <a:r>
              <a:rPr dirty="0" err="1"/>
              <a:t>siempre</a:t>
            </a:r>
            <a:r>
              <a:rPr dirty="0"/>
              <a:t> la </a:t>
            </a:r>
            <a:r>
              <a:rPr dirty="0" err="1"/>
              <a:t>clase</a:t>
            </a:r>
            <a:r>
              <a:rPr dirty="0"/>
              <a:t> </a:t>
            </a:r>
            <a:r>
              <a:rPr dirty="0" err="1"/>
              <a:t>mayoritaria</a:t>
            </a:r>
            <a:r>
              <a:rPr dirty="0"/>
              <a:t>. </a:t>
            </a:r>
            <a:r>
              <a:rPr dirty="0" err="1"/>
              <a:t>Eso</a:t>
            </a:r>
            <a:r>
              <a:rPr dirty="0"/>
              <a:t> no es un</a:t>
            </a:r>
          </a:p>
          <a:p>
            <a:r>
              <a:rPr dirty="0" err="1"/>
              <a:t>fracaso</a:t>
            </a:r>
            <a:r>
              <a:rPr dirty="0"/>
              <a:t> del </a:t>
            </a:r>
            <a:r>
              <a:rPr dirty="0" err="1"/>
              <a:t>modelo</a:t>
            </a:r>
            <a:r>
              <a:rPr dirty="0"/>
              <a:t>, es un </a:t>
            </a:r>
            <a:r>
              <a:rPr dirty="0" err="1"/>
              <a:t>resultado</a:t>
            </a:r>
            <a:r>
              <a:rPr dirty="0"/>
              <a:t>: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rezago</a:t>
            </a:r>
            <a:r>
              <a:rPr dirty="0"/>
              <a:t> </a:t>
            </a:r>
            <a:r>
              <a:rPr dirty="0" err="1"/>
              <a:t>depende</a:t>
            </a:r>
            <a:r>
              <a:rPr dirty="0"/>
              <a:t> de </a:t>
            </a:r>
            <a:r>
              <a:rPr dirty="0" err="1"/>
              <a:t>trayectorias</a:t>
            </a:r>
            <a:r>
              <a:rPr dirty="0"/>
              <a:t> </a:t>
            </a:r>
            <a:r>
              <a:rPr dirty="0" err="1"/>
              <a:t>personales</a:t>
            </a:r>
            <a:r>
              <a:rPr dirty="0"/>
              <a:t> que</a:t>
            </a:r>
          </a:p>
          <a:p>
            <a:r>
              <a:rPr dirty="0" err="1"/>
              <a:t>esta</a:t>
            </a:r>
            <a:r>
              <a:rPr dirty="0"/>
              <a:t> </a:t>
            </a:r>
            <a:r>
              <a:rPr dirty="0" err="1"/>
              <a:t>fuente</a:t>
            </a:r>
            <a:r>
              <a:rPr dirty="0"/>
              <a:t> no </a:t>
            </a:r>
            <a:r>
              <a:rPr dirty="0" err="1"/>
              <a:t>registra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Y </a:t>
            </a:r>
            <a:r>
              <a:rPr dirty="0" err="1"/>
              <a:t>todo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proyecto</a:t>
            </a:r>
            <a:r>
              <a:rPr dirty="0"/>
              <a:t> es reproducible: cuatro </a:t>
            </a:r>
            <a:r>
              <a:rPr dirty="0" err="1"/>
              <a:t>comandos</a:t>
            </a:r>
            <a:r>
              <a:rPr dirty="0"/>
              <a:t> lo </a:t>
            </a:r>
            <a:r>
              <a:rPr dirty="0" err="1"/>
              <a:t>instalan</a:t>
            </a:r>
            <a:r>
              <a:rPr dirty="0"/>
              <a:t> y </a:t>
            </a:r>
            <a:r>
              <a:rPr dirty="0" err="1"/>
              <a:t>ejecutan</a:t>
            </a:r>
            <a:r>
              <a:rPr dirty="0"/>
              <a:t>, con 45</a:t>
            </a:r>
          </a:p>
          <a:p>
            <a:r>
              <a:rPr dirty="0"/>
              <a:t>commits </a:t>
            </a:r>
            <a:r>
              <a:rPr dirty="0" err="1"/>
              <a:t>verificables</a:t>
            </a:r>
            <a:r>
              <a:rPr dirty="0"/>
              <a:t> y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cifra</a:t>
            </a:r>
            <a:r>
              <a:rPr dirty="0"/>
              <a:t> </a:t>
            </a:r>
            <a:r>
              <a:rPr dirty="0" err="1"/>
              <a:t>rastreable</a:t>
            </a:r>
            <a:r>
              <a:rPr dirty="0"/>
              <a:t> hasta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archivo</a:t>
            </a:r>
            <a:r>
              <a:rPr dirty="0"/>
              <a:t> que la </a:t>
            </a:r>
            <a:r>
              <a:rPr dirty="0" err="1"/>
              <a:t>generó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[6:55 - 7:10 · 15 s]</a:t>
            </a:r>
          </a:p>
          <a:p>
            <a:endParaRPr/>
          </a:p>
          <a:p>
            <a:r>
              <a:t>Lo que queda para seguir: incorporar la base de matrícula para ver la deserción, que hoy</a:t>
            </a:r>
          </a:p>
          <a:p>
            <a:r>
              <a:t>es invisible; usar modelos de supervivencia, que son los adecuados para datos</a:t>
            </a:r>
          </a:p>
          <a:p>
            <a:r>
              <a:t>censurados; y ampliar las variables hacia la trayectoria individual.</a:t>
            </a:r>
          </a:p>
          <a:p>
            <a:endParaRPr/>
          </a:p>
          <a:p>
            <a:r>
              <a:t>El repositorio completo está disponible en GitHub. Muchas gracias.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156A5-B668-40B6-B68E-AFC99CB3A359}" type="datetimeFigureOut">
              <a:rPr lang="es-CL" smtClean="0"/>
              <a:t>01-10-2026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E32BF-339A-4FD7-AF2D-884DBB49ECE9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1876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156A5-B668-40B6-B68E-AFC99CB3A359}" type="datetimeFigureOut">
              <a:rPr lang="es-CL" smtClean="0"/>
              <a:t>01-10-2026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E32BF-339A-4FD7-AF2D-884DBB49ECE9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77784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156A5-B668-40B6-B68E-AFC99CB3A359}" type="datetimeFigureOut">
              <a:rPr lang="es-CL" smtClean="0"/>
              <a:t>01-10-2026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E32BF-339A-4FD7-AF2D-884DBB49ECE9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63483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156A5-B668-40B6-B68E-AFC99CB3A359}" type="datetimeFigureOut">
              <a:rPr lang="es-CL" smtClean="0"/>
              <a:t>01-10-2026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E32BF-339A-4FD7-AF2D-884DBB49ECE9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43728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156A5-B668-40B6-B68E-AFC99CB3A359}" type="datetimeFigureOut">
              <a:rPr lang="es-CL" smtClean="0"/>
              <a:t>01-10-2026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E32BF-339A-4FD7-AF2D-884DBB49ECE9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64894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156A5-B668-40B6-B68E-AFC99CB3A359}" type="datetimeFigureOut">
              <a:rPr lang="es-CL" smtClean="0"/>
              <a:t>01-10-2026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E32BF-339A-4FD7-AF2D-884DBB49ECE9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14832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156A5-B668-40B6-B68E-AFC99CB3A359}" type="datetimeFigureOut">
              <a:rPr lang="es-CL" smtClean="0"/>
              <a:t>01-10-2026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E32BF-339A-4FD7-AF2D-884DBB49ECE9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74201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156A5-B668-40B6-B68E-AFC99CB3A359}" type="datetimeFigureOut">
              <a:rPr lang="es-CL" smtClean="0"/>
              <a:t>01-10-2026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E32BF-339A-4FD7-AF2D-884DBB49ECE9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42401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156A5-B668-40B6-B68E-AFC99CB3A359}" type="datetimeFigureOut">
              <a:rPr lang="es-CL" smtClean="0"/>
              <a:t>01-10-2026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E32BF-339A-4FD7-AF2D-884DBB49ECE9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71960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156A5-B668-40B6-B68E-AFC99CB3A359}" type="datetimeFigureOut">
              <a:rPr lang="es-CL" smtClean="0"/>
              <a:t>01-10-2026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E32BF-339A-4FD7-AF2D-884DBB49ECE9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24430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156A5-B668-40B6-B68E-AFC99CB3A359}" type="datetimeFigureOut">
              <a:rPr lang="es-CL" smtClean="0"/>
              <a:t>01-10-2026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E32BF-339A-4FD7-AF2D-884DBB49ECE9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11924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C156A5-B668-40B6-B68E-AFC99CB3A359}" type="datetimeFigureOut">
              <a:rPr lang="es-CL" smtClean="0"/>
              <a:t>01-10-2026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4E32BF-339A-4FD7-AF2D-884DBB49ECE9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336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1">
            <a:extLst>
              <a:ext uri="{FF2B5EF4-FFF2-40B4-BE49-F238E27FC236}">
                <a16:creationId xmlns:a16="http://schemas.microsoft.com/office/drawing/2014/main" id="{8261AC4D-D56B-FCD9-2D31-C2C2E0662094}"/>
              </a:ext>
            </a:extLst>
          </p:cNvPr>
          <p:cNvSpPr txBox="1">
            <a:spLocks/>
          </p:cNvSpPr>
          <p:nvPr/>
        </p:nvSpPr>
        <p:spPr>
          <a:xfrm>
            <a:off x="3576953" y="2331720"/>
            <a:ext cx="8757337" cy="160020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000" dirty="0">
                <a:solidFill>
                  <a:srgbClr val="FFFFFF"/>
                </a:solidFill>
                <a:latin typeface="Montserrat" pitchFamily="2" charset="77"/>
                <a:cs typeface="Calibri Light"/>
              </a:rPr>
              <a:t>Sobreduración en la titulación</a:t>
            </a:r>
            <a:endParaRPr lang="es-ES" sz="5400" dirty="0">
              <a:solidFill>
                <a:srgbClr val="FFFFFF"/>
              </a:solidFill>
              <a:latin typeface="Montserrat" pitchFamily="2" charset="77"/>
            </a:endParaRPr>
          </a:p>
          <a:p>
            <a:r>
              <a:rPr lang="es-ES" sz="3000" dirty="0">
                <a:solidFill>
                  <a:srgbClr val="FFFFFF"/>
                </a:solidFill>
                <a:latin typeface="Montserrat" pitchFamily="2" charset="77"/>
                <a:cs typeface="Calibri Light"/>
              </a:rPr>
              <a:t>de la educación superior chilena</a:t>
            </a:r>
            <a:endParaRPr lang="es-ES" sz="5400" dirty="0">
              <a:solidFill>
                <a:srgbClr val="FFFFFF"/>
              </a:solidFill>
              <a:latin typeface="Montserrat" pitchFamily="2" charset="77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944E5F5-76E7-7915-76DC-35DD2BF31062}"/>
              </a:ext>
            </a:extLst>
          </p:cNvPr>
          <p:cNvSpPr/>
          <p:nvPr/>
        </p:nvSpPr>
        <p:spPr>
          <a:xfrm>
            <a:off x="5005973" y="3860501"/>
            <a:ext cx="6000108" cy="4571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9CBD3C2B-219F-AC36-606B-A6905CE9EE69}"/>
              </a:ext>
            </a:extLst>
          </p:cNvPr>
          <p:cNvSpPr txBox="1">
            <a:spLocks/>
          </p:cNvSpPr>
          <p:nvPr/>
        </p:nvSpPr>
        <p:spPr>
          <a:xfrm>
            <a:off x="4913505" y="4069080"/>
            <a:ext cx="6613130" cy="109839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500" dirty="0">
                <a:solidFill>
                  <a:srgbClr val="FFFFFF"/>
                </a:solidFill>
                <a:latin typeface="Montserrat" pitchFamily="2" charset="77"/>
                <a:cs typeface="Calibri"/>
              </a:rPr>
              <a:t>Facultad de Ingeniería  |  Magíster en Ciencia de Datos e IA</a:t>
            </a:r>
            <a:endParaRPr lang="es-ES" sz="2300" dirty="0">
              <a:solidFill>
                <a:srgbClr val="FFFFFF"/>
              </a:solidFill>
              <a:latin typeface="Montserrat" pitchFamily="2" charset="77"/>
              <a:ea typeface="Calibri"/>
              <a:cs typeface="Calibri"/>
            </a:endParaRP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41860A79-B110-9F78-3978-77AFA70E5855}"/>
              </a:ext>
            </a:extLst>
          </p:cNvPr>
          <p:cNvSpPr txBox="1">
            <a:spLocks/>
          </p:cNvSpPr>
          <p:nvPr/>
        </p:nvSpPr>
        <p:spPr>
          <a:xfrm>
            <a:off x="4910328" y="4709160"/>
            <a:ext cx="5486400" cy="42564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200" dirty="0">
                <a:solidFill>
                  <a:srgbClr val="FFFFFF"/>
                </a:solidFill>
                <a:latin typeface="Montserrat" pitchFamily="2" charset="77"/>
                <a:ea typeface="Calibri"/>
                <a:cs typeface="Calibri"/>
              </a:rPr>
              <a:t>Sebastian Antunez Noguera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0049516-04B1-49E2-CC29-A48B3B898D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5046" y="2985545"/>
            <a:ext cx="4562771" cy="154545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910328" y="5074920"/>
            <a:ext cx="6400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</a:rPr>
              <a:t>Programación para la Ciencia de Datos (202682.1927)  ·  Profesor Omar Salinas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</a:rPr>
              <a:t>Proyecto final integrador — Fase 4  ·  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33197346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o 6">
            <a:extLst>
              <a:ext uri="{FF2B5EF4-FFF2-40B4-BE49-F238E27FC236}">
                <a16:creationId xmlns:a16="http://schemas.microsoft.com/office/drawing/2014/main" id="{3089DBCA-FFA2-7FCA-0978-020F1612CD92}"/>
              </a:ext>
            </a:extLst>
          </p:cNvPr>
          <p:cNvGrpSpPr/>
          <p:nvPr/>
        </p:nvGrpSpPr>
        <p:grpSpPr>
          <a:xfrm>
            <a:off x="302002" y="-206018"/>
            <a:ext cx="11544754" cy="6812558"/>
            <a:chOff x="302002" y="-206018"/>
            <a:chExt cx="11544754" cy="6812558"/>
          </a:xfrm>
        </p:grpSpPr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3C44C02C-081F-BED0-D6AD-14E853857BBA}"/>
                </a:ext>
              </a:extLst>
            </p:cNvPr>
            <p:cNvSpPr/>
            <p:nvPr/>
          </p:nvSpPr>
          <p:spPr>
            <a:xfrm>
              <a:off x="302002" y="907609"/>
              <a:ext cx="11544754" cy="5698931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E15368CA-E4DB-7718-2A41-27F135DAB4D0}"/>
                </a:ext>
              </a:extLst>
            </p:cNvPr>
            <p:cNvGrpSpPr/>
            <p:nvPr/>
          </p:nvGrpSpPr>
          <p:grpSpPr>
            <a:xfrm>
              <a:off x="10266948" y="-206018"/>
              <a:ext cx="1339576" cy="1716660"/>
              <a:chOff x="10266948" y="-206018"/>
              <a:chExt cx="1339576" cy="1716660"/>
            </a:xfrm>
          </p:grpSpPr>
          <p:sp>
            <p:nvSpPr>
              <p:cNvPr id="14" name="Título 1">
                <a:extLst>
                  <a:ext uri="{FF2B5EF4-FFF2-40B4-BE49-F238E27FC236}">
                    <a16:creationId xmlns:a16="http://schemas.microsoft.com/office/drawing/2014/main" id="{BD4FDC23-8EEC-4944-2580-A2FC374CD2D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266948" y="-206018"/>
                <a:ext cx="1339576" cy="1716660"/>
              </a:xfrm>
              <a:prstGeom prst="rect">
                <a:avLst/>
              </a:prstGeom>
              <a:solidFill>
                <a:srgbClr val="20236D"/>
              </a:solidFill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s-ES" sz="2800" dirty="0">
                    <a:solidFill>
                      <a:srgbClr val="FFFFFF"/>
                    </a:solidFill>
                    <a:latin typeface="Calibri"/>
                    <a:ea typeface="Calibri"/>
                    <a:cs typeface="Calibri Light"/>
                  </a:rPr>
                  <a:t>  </a:t>
                </a:r>
                <a:endParaRPr lang="es-ES" sz="2800" dirty="0">
                  <a:solidFill>
                    <a:srgbClr val="FFFFFF"/>
                  </a:solidFill>
                  <a:latin typeface="Calibri"/>
                  <a:ea typeface="Calibri"/>
                </a:endParaRPr>
              </a:p>
            </p:txBody>
          </p:sp>
          <p:pic>
            <p:nvPicPr>
              <p:cNvPr id="13" name="Imagen 12">
                <a:extLst>
                  <a:ext uri="{FF2B5EF4-FFF2-40B4-BE49-F238E27FC236}">
                    <a16:creationId xmlns:a16="http://schemas.microsoft.com/office/drawing/2014/main" id="{E22975E8-8974-FCA4-BF3D-C8A1AD8F6A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375523" y="394074"/>
                <a:ext cx="1151092" cy="973350"/>
              </a:xfrm>
              <a:prstGeom prst="rect">
                <a:avLst/>
              </a:prstGeom>
            </p:spPr>
          </p:pic>
        </p:grpSp>
      </p:grpSp>
      <p:sp>
        <p:nvSpPr>
          <p:cNvPr id="4" name="Rectángulo 3">
            <a:extLst>
              <a:ext uri="{FF2B5EF4-FFF2-40B4-BE49-F238E27FC236}">
                <a16:creationId xmlns:a16="http://schemas.microsoft.com/office/drawing/2014/main" id="{ACD47DFB-493A-6667-77EE-9717D911E58D}"/>
              </a:ext>
            </a:extLst>
          </p:cNvPr>
          <p:cNvSpPr/>
          <p:nvPr/>
        </p:nvSpPr>
        <p:spPr>
          <a:xfrm>
            <a:off x="1463040" y="648352"/>
            <a:ext cx="8595360" cy="520700"/>
          </a:xfrm>
          <a:prstGeom prst="rect">
            <a:avLst/>
          </a:prstGeom>
          <a:solidFill>
            <a:schemeClr val="tx2">
              <a:lumMod val="50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7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EL PROBLEMA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828800"/>
            <a:ext cx="557784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3B3B3B"/>
                </a:solidFill>
              </a:rPr>
              <a:t>Cada carrera en Chile declara una duración teórica.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3B3B3B"/>
                </a:solidFill>
              </a:rPr>
              <a:t>Esa cifra define expectativas de gasto y determina la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3B3B3B"/>
                </a:solidFill>
              </a:rPr>
              <a:t>duración de becas y créditos estatales.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endParaRPr sz="1500" b="0">
              <a:solidFill>
                <a:srgbClr val="3B3B3B"/>
              </a:solidFill>
            </a:endParaRP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3B3B3B"/>
                </a:solidFill>
              </a:rPr>
              <a:t>Nadie publica cuánto se tarda en realidad.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endParaRPr sz="1500" b="0">
              <a:solidFill>
                <a:srgbClr val="3B3B3B"/>
              </a:solidFill>
            </a:endParaRP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3B3B3B"/>
                </a:solidFill>
              </a:rPr>
              <a:t>La diferencia —la sobreduración— no existe como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3B3B3B"/>
                </a:solidFill>
              </a:rPr>
              <a:t>variable en ningún registro oficial.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20840" y="2057400"/>
            <a:ext cx="4343400" cy="1600200"/>
          </a:xfrm>
          <a:prstGeom prst="rect">
            <a:avLst/>
          </a:prstGeom>
          <a:solidFill>
            <a:srgbClr val="2023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95160" y="2286000"/>
            <a:ext cx="3794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</a:rPr>
              <a:t>¿Se puede reconstruir la duración real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</a:rPr>
              <a:t>desde los registros administrativos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</a:rPr>
              <a:t>y caracterizar el rezago con ella?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1783080"/>
            <a:ext cx="4343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20236D"/>
                </a:solidFill>
              </a:rPr>
              <a:t>LA PREGUNTA TÉCNICA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977639"/>
            <a:ext cx="43434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808080"/>
                </a:solidFill>
              </a:rPr>
              <a:t>Fuente: SIES, Titulados de Educación Superior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808080"/>
                </a:solidFill>
              </a:rPr>
              <a:t>6 archivos · 955 MB · 1.710.167 filas · 40 columnas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o 6">
            <a:extLst>
              <a:ext uri="{FF2B5EF4-FFF2-40B4-BE49-F238E27FC236}">
                <a16:creationId xmlns:a16="http://schemas.microsoft.com/office/drawing/2014/main" id="{3089DBCA-FFA2-7FCA-0978-020F1612CD92}"/>
              </a:ext>
            </a:extLst>
          </p:cNvPr>
          <p:cNvGrpSpPr/>
          <p:nvPr/>
        </p:nvGrpSpPr>
        <p:grpSpPr>
          <a:xfrm>
            <a:off x="302002" y="-206018"/>
            <a:ext cx="11544754" cy="6812558"/>
            <a:chOff x="302002" y="-206018"/>
            <a:chExt cx="11544754" cy="6812558"/>
          </a:xfrm>
        </p:grpSpPr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3C44C02C-081F-BED0-D6AD-14E853857BBA}"/>
                </a:ext>
              </a:extLst>
            </p:cNvPr>
            <p:cNvSpPr/>
            <p:nvPr/>
          </p:nvSpPr>
          <p:spPr>
            <a:xfrm>
              <a:off x="302002" y="907609"/>
              <a:ext cx="11544754" cy="5698931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E15368CA-E4DB-7718-2A41-27F135DAB4D0}"/>
                </a:ext>
              </a:extLst>
            </p:cNvPr>
            <p:cNvGrpSpPr/>
            <p:nvPr/>
          </p:nvGrpSpPr>
          <p:grpSpPr>
            <a:xfrm>
              <a:off x="10266948" y="-206018"/>
              <a:ext cx="1339576" cy="1716660"/>
              <a:chOff x="10266948" y="-206018"/>
              <a:chExt cx="1339576" cy="1716660"/>
            </a:xfrm>
          </p:grpSpPr>
          <p:sp>
            <p:nvSpPr>
              <p:cNvPr id="14" name="Título 1">
                <a:extLst>
                  <a:ext uri="{FF2B5EF4-FFF2-40B4-BE49-F238E27FC236}">
                    <a16:creationId xmlns:a16="http://schemas.microsoft.com/office/drawing/2014/main" id="{BD4FDC23-8EEC-4944-2580-A2FC374CD2D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266948" y="-206018"/>
                <a:ext cx="1339576" cy="1716660"/>
              </a:xfrm>
              <a:prstGeom prst="rect">
                <a:avLst/>
              </a:prstGeom>
              <a:solidFill>
                <a:srgbClr val="20236D"/>
              </a:solidFill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s-ES" sz="2800" dirty="0">
                    <a:solidFill>
                      <a:srgbClr val="FFFFFF"/>
                    </a:solidFill>
                    <a:latin typeface="Calibri"/>
                    <a:ea typeface="Calibri"/>
                    <a:cs typeface="Calibri Light"/>
                  </a:rPr>
                  <a:t>  </a:t>
                </a:r>
                <a:endParaRPr lang="es-ES" sz="2800" dirty="0">
                  <a:solidFill>
                    <a:srgbClr val="FFFFFF"/>
                  </a:solidFill>
                  <a:latin typeface="Calibri"/>
                  <a:ea typeface="Calibri"/>
                </a:endParaRPr>
              </a:p>
            </p:txBody>
          </p:sp>
          <p:pic>
            <p:nvPicPr>
              <p:cNvPr id="13" name="Imagen 12">
                <a:extLst>
                  <a:ext uri="{FF2B5EF4-FFF2-40B4-BE49-F238E27FC236}">
                    <a16:creationId xmlns:a16="http://schemas.microsoft.com/office/drawing/2014/main" id="{E22975E8-8974-FCA4-BF3D-C8A1AD8F6A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375523" y="394074"/>
                <a:ext cx="1151092" cy="973350"/>
              </a:xfrm>
              <a:prstGeom prst="rect">
                <a:avLst/>
              </a:prstGeom>
            </p:spPr>
          </p:pic>
        </p:grpSp>
      </p:grpSp>
      <p:sp>
        <p:nvSpPr>
          <p:cNvPr id="4" name="Rectángulo 3">
            <a:extLst>
              <a:ext uri="{FF2B5EF4-FFF2-40B4-BE49-F238E27FC236}">
                <a16:creationId xmlns:a16="http://schemas.microsoft.com/office/drawing/2014/main" id="{ACD47DFB-493A-6667-77EE-9717D911E58D}"/>
              </a:ext>
            </a:extLst>
          </p:cNvPr>
          <p:cNvSpPr/>
          <p:nvPr/>
        </p:nvSpPr>
        <p:spPr>
          <a:xfrm>
            <a:off x="1463040" y="648352"/>
            <a:ext cx="8595360" cy="520700"/>
          </a:xfrm>
          <a:prstGeom prst="rect">
            <a:avLst/>
          </a:prstGeom>
          <a:solidFill>
            <a:schemeClr val="tx2">
              <a:lumMod val="50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7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CÓMO SE CONSTRUYÓ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783080"/>
            <a:ext cx="239572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200" b="1">
                <a:solidFill>
                  <a:srgbClr val="20236D"/>
                </a:solidFill>
              </a:rPr>
              <a:t>F1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2267712"/>
            <a:ext cx="2395728" cy="25400"/>
          </a:xfrm>
          <a:prstGeom prst="rect">
            <a:avLst/>
          </a:prstGeom>
          <a:solidFill>
            <a:srgbClr val="2023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2395728"/>
            <a:ext cx="239572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3B3B3B"/>
                </a:solidFill>
              </a:rPr>
              <a:t>Definición y entorno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788920"/>
            <a:ext cx="2395728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3B3B3B"/>
                </a:solidFill>
              </a:rPr>
              <a:t>Pregunta técnica, entorno virtual,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3B3B3B"/>
                </a:solidFill>
              </a:rPr>
              <a:t>dependencias fijadas, código modular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1783080"/>
            <a:ext cx="239572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200" b="1">
                <a:solidFill>
                  <a:srgbClr val="20236D"/>
                </a:solidFill>
              </a:rPr>
              <a:t>F2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47872" y="2267712"/>
            <a:ext cx="2395728" cy="25400"/>
          </a:xfrm>
          <a:prstGeom prst="rect">
            <a:avLst/>
          </a:prstGeom>
          <a:solidFill>
            <a:srgbClr val="2023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47872" y="2395728"/>
            <a:ext cx="239572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3B3B3B"/>
                </a:solidFill>
              </a:rPr>
              <a:t>Pipeline de datos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47872" y="2788920"/>
            <a:ext cx="2395728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3B3B3B"/>
                </a:solidFill>
              </a:rPr>
              <a:t>Ingesta, centinelas, duplicados,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3B3B3B"/>
                </a:solidFill>
              </a:rPr>
              <a:t>reconstrucción de la duración real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27064" y="1783080"/>
            <a:ext cx="239572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200" b="1">
                <a:solidFill>
                  <a:srgbClr val="20236D"/>
                </a:solidFill>
              </a:rPr>
              <a:t>F3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27064" y="2267712"/>
            <a:ext cx="2395728" cy="25400"/>
          </a:xfrm>
          <a:prstGeom prst="rect">
            <a:avLst/>
          </a:prstGeom>
          <a:solidFill>
            <a:srgbClr val="2023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27064" y="2395728"/>
            <a:ext cx="239572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3B3B3B"/>
                </a:solidFill>
              </a:rPr>
              <a:t>Núcleo algorítmico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27064" y="2788920"/>
            <a:ext cx="2395728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3B3B3B"/>
                </a:solidFill>
              </a:rPr>
              <a:t>Algoritmos propios, complejidad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3B3B3B"/>
                </a:solidFill>
              </a:rPr>
              <a:t>medida, POO y modelos por gradiente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06256" y="1783080"/>
            <a:ext cx="239572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200" b="1">
                <a:solidFill>
                  <a:srgbClr val="20236D"/>
                </a:solidFill>
              </a:rPr>
              <a:t>F4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06256" y="2267712"/>
            <a:ext cx="2395728" cy="25400"/>
          </a:xfrm>
          <a:prstGeom prst="rect">
            <a:avLst/>
          </a:prstGeom>
          <a:solidFill>
            <a:srgbClr val="2023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906256" y="2395728"/>
            <a:ext cx="239572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3B3B3B"/>
                </a:solidFill>
              </a:rPr>
              <a:t>Análisis y difusión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06256" y="2788920"/>
            <a:ext cx="2395728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3B3B3B"/>
                </a:solidFill>
              </a:rPr>
              <a:t>Resultados, visualizaciones,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3B3B3B"/>
                </a:solidFill>
              </a:rPr>
              <a:t>discusión y comunicación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4069080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>
                <a:solidFill>
                  <a:srgbClr val="20236D"/>
                </a:solidFill>
              </a:rPr>
              <a:t>La transformación central: la duración real no existe en la fuente, se deriva.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" y="4462272"/>
            <a:ext cx="10424160" cy="1051560"/>
          </a:xfrm>
          <a:prstGeom prst="rect">
            <a:avLst/>
          </a:prstGeom>
          <a:solidFill>
            <a:srgbClr val="F2F3F7"/>
          </a:solidFill>
          <a:ln>
            <a:solidFill>
              <a:srgbClr val="D0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97280" y="4645152"/>
            <a:ext cx="100584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50" b="0">
                <a:solidFill>
                  <a:srgbClr val="3B3B3B"/>
                </a:solidFill>
                <a:latin typeface="Consolas"/>
              </a:rPr>
              <a:t>duracion_real_sem = (anio_titulo - anio_ing_carr_ori) * 2 + (semestre_titulo - sem_ing_carr_ori) + 1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50" b="0">
                <a:solidFill>
                  <a:srgbClr val="3B3B3B"/>
                </a:solidFill>
                <a:latin typeface="Consolas"/>
              </a:rPr>
              <a:t>sobreduracion_sem = duracion_real_sem - dur_total_carr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o 6">
            <a:extLst>
              <a:ext uri="{FF2B5EF4-FFF2-40B4-BE49-F238E27FC236}">
                <a16:creationId xmlns:a16="http://schemas.microsoft.com/office/drawing/2014/main" id="{3089DBCA-FFA2-7FCA-0978-020F1612CD92}"/>
              </a:ext>
            </a:extLst>
          </p:cNvPr>
          <p:cNvGrpSpPr/>
          <p:nvPr/>
        </p:nvGrpSpPr>
        <p:grpSpPr>
          <a:xfrm>
            <a:off x="302002" y="-206018"/>
            <a:ext cx="11544754" cy="6812558"/>
            <a:chOff x="302002" y="-206018"/>
            <a:chExt cx="11544754" cy="6812558"/>
          </a:xfrm>
        </p:grpSpPr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3C44C02C-081F-BED0-D6AD-14E853857BBA}"/>
                </a:ext>
              </a:extLst>
            </p:cNvPr>
            <p:cNvSpPr/>
            <p:nvPr/>
          </p:nvSpPr>
          <p:spPr>
            <a:xfrm>
              <a:off x="302002" y="907609"/>
              <a:ext cx="11544754" cy="5698931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E15368CA-E4DB-7718-2A41-27F135DAB4D0}"/>
                </a:ext>
              </a:extLst>
            </p:cNvPr>
            <p:cNvGrpSpPr/>
            <p:nvPr/>
          </p:nvGrpSpPr>
          <p:grpSpPr>
            <a:xfrm>
              <a:off x="10266948" y="-206018"/>
              <a:ext cx="1339576" cy="1716660"/>
              <a:chOff x="10266948" y="-206018"/>
              <a:chExt cx="1339576" cy="1716660"/>
            </a:xfrm>
          </p:grpSpPr>
          <p:sp>
            <p:nvSpPr>
              <p:cNvPr id="14" name="Título 1">
                <a:extLst>
                  <a:ext uri="{FF2B5EF4-FFF2-40B4-BE49-F238E27FC236}">
                    <a16:creationId xmlns:a16="http://schemas.microsoft.com/office/drawing/2014/main" id="{BD4FDC23-8EEC-4944-2580-A2FC374CD2D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266948" y="-206018"/>
                <a:ext cx="1339576" cy="1716660"/>
              </a:xfrm>
              <a:prstGeom prst="rect">
                <a:avLst/>
              </a:prstGeom>
              <a:solidFill>
                <a:srgbClr val="20236D"/>
              </a:solidFill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s-ES" sz="2800" dirty="0">
                    <a:solidFill>
                      <a:srgbClr val="FFFFFF"/>
                    </a:solidFill>
                    <a:latin typeface="Calibri"/>
                    <a:ea typeface="Calibri"/>
                    <a:cs typeface="Calibri Light"/>
                  </a:rPr>
                  <a:t>  </a:t>
                </a:r>
                <a:endParaRPr lang="es-ES" sz="2800" dirty="0">
                  <a:solidFill>
                    <a:srgbClr val="FFFFFF"/>
                  </a:solidFill>
                  <a:latin typeface="Calibri"/>
                  <a:ea typeface="Calibri"/>
                </a:endParaRPr>
              </a:p>
            </p:txBody>
          </p:sp>
          <p:pic>
            <p:nvPicPr>
              <p:cNvPr id="13" name="Imagen 12">
                <a:extLst>
                  <a:ext uri="{FF2B5EF4-FFF2-40B4-BE49-F238E27FC236}">
                    <a16:creationId xmlns:a16="http://schemas.microsoft.com/office/drawing/2014/main" id="{E22975E8-8974-FCA4-BF3D-C8A1AD8F6A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375523" y="394074"/>
                <a:ext cx="1151092" cy="973350"/>
              </a:xfrm>
              <a:prstGeom prst="rect">
                <a:avLst/>
              </a:prstGeom>
            </p:spPr>
          </p:pic>
        </p:grpSp>
      </p:grpSp>
      <p:sp>
        <p:nvSpPr>
          <p:cNvPr id="4" name="Rectángulo 3">
            <a:extLst>
              <a:ext uri="{FF2B5EF4-FFF2-40B4-BE49-F238E27FC236}">
                <a16:creationId xmlns:a16="http://schemas.microsoft.com/office/drawing/2014/main" id="{ACD47DFB-493A-6667-77EE-9717D911E58D}"/>
              </a:ext>
            </a:extLst>
          </p:cNvPr>
          <p:cNvSpPr/>
          <p:nvPr/>
        </p:nvSpPr>
        <p:spPr>
          <a:xfrm>
            <a:off x="1463040" y="648352"/>
            <a:ext cx="8595360" cy="520700"/>
          </a:xfrm>
          <a:prstGeom prst="rect">
            <a:avLst/>
          </a:prstGeom>
          <a:solidFill>
            <a:schemeClr val="tx2">
              <a:lumMod val="50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7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CUATRO DE CADA CINCO EGRESAN FUERA DE PLAZO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691640"/>
            <a:ext cx="239572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3600" b="1">
                <a:solidFill>
                  <a:srgbClr val="1E7A46"/>
                </a:solidFill>
              </a:rPr>
              <a:t>19,0 %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350008"/>
            <a:ext cx="2395728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3B3B3B"/>
                </a:solidFill>
              </a:rPr>
              <a:t>se titula dentro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3B3B3B"/>
                </a:solidFill>
              </a:rPr>
              <a:t>del plazo teórico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7872" y="1691640"/>
            <a:ext cx="239572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3600" b="1">
                <a:solidFill>
                  <a:srgbClr val="20236D"/>
                </a:solidFill>
              </a:rPr>
              <a:t>2,76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2350008"/>
            <a:ext cx="2395728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3B3B3B"/>
                </a:solidFill>
              </a:rPr>
              <a:t>semestres de exceso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3B3B3B"/>
                </a:solidFill>
              </a:rPr>
              <a:t>en promedio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7064" y="1691640"/>
            <a:ext cx="239572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3600" b="1">
                <a:solidFill>
                  <a:srgbClr val="B02A1E"/>
                </a:solidFill>
              </a:rPr>
              <a:t>20,4 %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7064" y="2350008"/>
            <a:ext cx="2395728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3B3B3B"/>
                </a:solidFill>
              </a:rPr>
              <a:t>acumula rezago severo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3B3B3B"/>
                </a:solidFill>
              </a:rPr>
              <a:t>(más de 4 semestres)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06256" y="1691640"/>
            <a:ext cx="239572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3600" b="1">
                <a:solidFill>
                  <a:srgbClr val="20236D"/>
                </a:solidFill>
              </a:rPr>
              <a:t>3,55 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06256" y="2350008"/>
            <a:ext cx="2395728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3B3B3B"/>
                </a:solidFill>
              </a:rPr>
              <a:t>semestres-estudiante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3B3B3B"/>
                </a:solidFill>
              </a:rPr>
              <a:t>en exceso, 2020-2025</a:t>
            </a:r>
          </a:p>
        </p:txBody>
      </p:sp>
      <p:pic>
        <p:nvPicPr>
          <p:cNvPr id="23" name="Picture 22" descr="f4_fig1_magnitu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0860" y="3154680"/>
            <a:ext cx="4770280" cy="26974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68680" y="6053328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808080"/>
                </a:solidFill>
              </a:rPr>
              <a:t>Fuente: elaboración propia a partir de SIES, Titulados de Educación Superior 2020-2025 (n = 1.246.760).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o 6">
            <a:extLst>
              <a:ext uri="{FF2B5EF4-FFF2-40B4-BE49-F238E27FC236}">
                <a16:creationId xmlns:a16="http://schemas.microsoft.com/office/drawing/2014/main" id="{3089DBCA-FFA2-7FCA-0978-020F1612CD92}"/>
              </a:ext>
            </a:extLst>
          </p:cNvPr>
          <p:cNvGrpSpPr/>
          <p:nvPr/>
        </p:nvGrpSpPr>
        <p:grpSpPr>
          <a:xfrm>
            <a:off x="302002" y="-206018"/>
            <a:ext cx="11544754" cy="6812558"/>
            <a:chOff x="302002" y="-206018"/>
            <a:chExt cx="11544754" cy="6812558"/>
          </a:xfrm>
        </p:grpSpPr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3C44C02C-081F-BED0-D6AD-14E853857BBA}"/>
                </a:ext>
              </a:extLst>
            </p:cNvPr>
            <p:cNvSpPr/>
            <p:nvPr/>
          </p:nvSpPr>
          <p:spPr>
            <a:xfrm>
              <a:off x="302002" y="907609"/>
              <a:ext cx="11544754" cy="5698931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E15368CA-E4DB-7718-2A41-27F135DAB4D0}"/>
                </a:ext>
              </a:extLst>
            </p:cNvPr>
            <p:cNvGrpSpPr/>
            <p:nvPr/>
          </p:nvGrpSpPr>
          <p:grpSpPr>
            <a:xfrm>
              <a:off x="10266948" y="-206018"/>
              <a:ext cx="1339576" cy="1716660"/>
              <a:chOff x="10266948" y="-206018"/>
              <a:chExt cx="1339576" cy="1716660"/>
            </a:xfrm>
          </p:grpSpPr>
          <p:sp>
            <p:nvSpPr>
              <p:cNvPr id="14" name="Título 1">
                <a:extLst>
                  <a:ext uri="{FF2B5EF4-FFF2-40B4-BE49-F238E27FC236}">
                    <a16:creationId xmlns:a16="http://schemas.microsoft.com/office/drawing/2014/main" id="{BD4FDC23-8EEC-4944-2580-A2FC374CD2D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266948" y="-206018"/>
                <a:ext cx="1339576" cy="1716660"/>
              </a:xfrm>
              <a:prstGeom prst="rect">
                <a:avLst/>
              </a:prstGeom>
              <a:solidFill>
                <a:srgbClr val="20236D"/>
              </a:solidFill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s-ES" sz="2800" dirty="0">
                    <a:solidFill>
                      <a:srgbClr val="FFFFFF"/>
                    </a:solidFill>
                    <a:latin typeface="Calibri"/>
                    <a:ea typeface="Calibri"/>
                    <a:cs typeface="Calibri Light"/>
                  </a:rPr>
                  <a:t>  </a:t>
                </a:r>
                <a:endParaRPr lang="es-ES" sz="2800" dirty="0">
                  <a:solidFill>
                    <a:srgbClr val="FFFFFF"/>
                  </a:solidFill>
                  <a:latin typeface="Calibri"/>
                  <a:ea typeface="Calibri"/>
                </a:endParaRPr>
              </a:p>
            </p:txBody>
          </p:sp>
          <p:pic>
            <p:nvPicPr>
              <p:cNvPr id="13" name="Imagen 12">
                <a:extLst>
                  <a:ext uri="{FF2B5EF4-FFF2-40B4-BE49-F238E27FC236}">
                    <a16:creationId xmlns:a16="http://schemas.microsoft.com/office/drawing/2014/main" id="{E22975E8-8974-FCA4-BF3D-C8A1AD8F6A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375523" y="394074"/>
                <a:ext cx="1151092" cy="973350"/>
              </a:xfrm>
              <a:prstGeom prst="rect">
                <a:avLst/>
              </a:prstGeom>
            </p:spPr>
          </p:pic>
        </p:grpSp>
      </p:grpSp>
      <p:sp>
        <p:nvSpPr>
          <p:cNvPr id="4" name="Rectángulo 3">
            <a:extLst>
              <a:ext uri="{FF2B5EF4-FFF2-40B4-BE49-F238E27FC236}">
                <a16:creationId xmlns:a16="http://schemas.microsoft.com/office/drawing/2014/main" id="{ACD47DFB-493A-6667-77EE-9717D911E58D}"/>
              </a:ext>
            </a:extLst>
          </p:cNvPr>
          <p:cNvSpPr/>
          <p:nvPr/>
        </p:nvSpPr>
        <p:spPr>
          <a:xfrm>
            <a:off x="1463040" y="648352"/>
            <a:ext cx="8595360" cy="520700"/>
          </a:xfrm>
          <a:prstGeom prst="rect">
            <a:avLst/>
          </a:prstGeom>
          <a:solidFill>
            <a:schemeClr val="tx2">
              <a:lumMod val="50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7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DERECHO TRIPLICA A EDUCACIÓN</a:t>
            </a:r>
          </a:p>
        </p:txBody>
      </p:sp>
      <p:pic>
        <p:nvPicPr>
          <p:cNvPr id="15" name="Picture 14" descr="f4_fig2_factor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968" y="1645920"/>
            <a:ext cx="4894063" cy="28803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8680" y="4892040"/>
            <a:ext cx="331927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3B3B3B"/>
                </a:solidFill>
              </a:rPr>
              <a:t>Casi cuatro semestres separan los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3B3B3B"/>
                </a:solidFill>
              </a:rPr>
              <a:t>extremos del ranking de áreas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5696" y="4892040"/>
            <a:ext cx="331927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3B3B3B"/>
                </a:solidFill>
              </a:rPr>
              <a:t>Las universidades superan a los IP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3B3B3B"/>
                </a:solidFill>
              </a:rPr>
              <a:t>en más de un semestre completo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82712" y="4892040"/>
            <a:ext cx="331927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3B3B3B"/>
                </a:solidFill>
              </a:rPr>
              <a:t>Las mujeres se titulan 0,93 semestres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3B3B3B"/>
                </a:solidFill>
              </a:rPr>
              <a:t>antes, en las diez áreas sin excepción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6053328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808080"/>
                </a:solidFill>
              </a:rPr>
              <a:t>Fuente: elaboración propia a partir de SIES, Titulados de Educación Superior 2020-2025.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o 6">
            <a:extLst>
              <a:ext uri="{FF2B5EF4-FFF2-40B4-BE49-F238E27FC236}">
                <a16:creationId xmlns:a16="http://schemas.microsoft.com/office/drawing/2014/main" id="{3089DBCA-FFA2-7FCA-0978-020F1612CD92}"/>
              </a:ext>
            </a:extLst>
          </p:cNvPr>
          <p:cNvGrpSpPr/>
          <p:nvPr/>
        </p:nvGrpSpPr>
        <p:grpSpPr>
          <a:xfrm>
            <a:off x="302002" y="-206018"/>
            <a:ext cx="11544754" cy="6812558"/>
            <a:chOff x="302002" y="-206018"/>
            <a:chExt cx="11544754" cy="6812558"/>
          </a:xfrm>
        </p:grpSpPr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3C44C02C-081F-BED0-D6AD-14E853857BBA}"/>
                </a:ext>
              </a:extLst>
            </p:cNvPr>
            <p:cNvSpPr/>
            <p:nvPr/>
          </p:nvSpPr>
          <p:spPr>
            <a:xfrm>
              <a:off x="302002" y="907609"/>
              <a:ext cx="11544754" cy="5698931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E15368CA-E4DB-7718-2A41-27F135DAB4D0}"/>
                </a:ext>
              </a:extLst>
            </p:cNvPr>
            <p:cNvGrpSpPr/>
            <p:nvPr/>
          </p:nvGrpSpPr>
          <p:grpSpPr>
            <a:xfrm>
              <a:off x="10266948" y="-206018"/>
              <a:ext cx="1339576" cy="1716660"/>
              <a:chOff x="10266948" y="-206018"/>
              <a:chExt cx="1339576" cy="1716660"/>
            </a:xfrm>
          </p:grpSpPr>
          <p:sp>
            <p:nvSpPr>
              <p:cNvPr id="14" name="Título 1">
                <a:extLst>
                  <a:ext uri="{FF2B5EF4-FFF2-40B4-BE49-F238E27FC236}">
                    <a16:creationId xmlns:a16="http://schemas.microsoft.com/office/drawing/2014/main" id="{BD4FDC23-8EEC-4944-2580-A2FC374CD2D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266948" y="-206018"/>
                <a:ext cx="1339576" cy="1716660"/>
              </a:xfrm>
              <a:prstGeom prst="rect">
                <a:avLst/>
              </a:prstGeom>
              <a:solidFill>
                <a:srgbClr val="20236D"/>
              </a:solidFill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s-ES" sz="2800" dirty="0">
                    <a:solidFill>
                      <a:srgbClr val="FFFFFF"/>
                    </a:solidFill>
                    <a:latin typeface="Calibri"/>
                    <a:ea typeface="Calibri"/>
                    <a:cs typeface="Calibri Light"/>
                  </a:rPr>
                  <a:t>  </a:t>
                </a:r>
                <a:endParaRPr lang="es-ES" sz="2800" dirty="0">
                  <a:solidFill>
                    <a:srgbClr val="FFFFFF"/>
                  </a:solidFill>
                  <a:latin typeface="Calibri"/>
                  <a:ea typeface="Calibri"/>
                </a:endParaRPr>
              </a:p>
            </p:txBody>
          </p:sp>
          <p:pic>
            <p:nvPicPr>
              <p:cNvPr id="13" name="Imagen 12">
                <a:extLst>
                  <a:ext uri="{FF2B5EF4-FFF2-40B4-BE49-F238E27FC236}">
                    <a16:creationId xmlns:a16="http://schemas.microsoft.com/office/drawing/2014/main" id="{E22975E8-8974-FCA4-BF3D-C8A1AD8F6A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375523" y="394074"/>
                <a:ext cx="1151092" cy="973350"/>
              </a:xfrm>
              <a:prstGeom prst="rect">
                <a:avLst/>
              </a:prstGeom>
            </p:spPr>
          </p:pic>
        </p:grpSp>
      </p:grpSp>
      <p:sp>
        <p:nvSpPr>
          <p:cNvPr id="4" name="Rectángulo 3">
            <a:extLst>
              <a:ext uri="{FF2B5EF4-FFF2-40B4-BE49-F238E27FC236}">
                <a16:creationId xmlns:a16="http://schemas.microsoft.com/office/drawing/2014/main" id="{ACD47DFB-493A-6667-77EE-9717D911E58D}"/>
              </a:ext>
            </a:extLst>
          </p:cNvPr>
          <p:cNvSpPr/>
          <p:nvPr/>
        </p:nvSpPr>
        <p:spPr>
          <a:xfrm>
            <a:off x="1463040" y="648352"/>
            <a:ext cx="8595360" cy="520700"/>
          </a:xfrm>
          <a:prstGeom prst="rect">
            <a:avLst/>
          </a:prstGeom>
          <a:solidFill>
            <a:schemeClr val="tx2">
              <a:lumMod val="50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7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LA PANDEMIA DESPLAZÓ TITULACIONES, NO LAS EMPEORÓ</a:t>
            </a:r>
          </a:p>
        </p:txBody>
      </p:sp>
      <p:pic>
        <p:nvPicPr>
          <p:cNvPr id="15" name="Picture 14" descr="f4_fig3_evoluc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9283" y="1600200"/>
            <a:ext cx="5793434" cy="30632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8680" y="4846320"/>
            <a:ext cx="104241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3B3B3B"/>
                </a:solidFill>
              </a:rPr>
              <a:t>En 2020 se titularon 87.000 personas menos que en un año normal y la sobreduración tocó su mínimo. En 2021 el volumen se recuperó y la sobreduración alcanzó su máximo.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3B3B3B"/>
                </a:solidFill>
              </a:rPr>
              <a:t>Son el mismo fenómeno: las titulaciones se postergaron. El mecanismo es de desplazamiento, no de deterioro académico.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6053328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808080"/>
                </a:solidFill>
              </a:rPr>
              <a:t>Fuente: elaboración propia a partir de SIES, Titulados de Educación Superior 2020-2025.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o 6">
            <a:extLst>
              <a:ext uri="{FF2B5EF4-FFF2-40B4-BE49-F238E27FC236}">
                <a16:creationId xmlns:a16="http://schemas.microsoft.com/office/drawing/2014/main" id="{3089DBCA-FFA2-7FCA-0978-020F1612CD92}"/>
              </a:ext>
            </a:extLst>
          </p:cNvPr>
          <p:cNvGrpSpPr/>
          <p:nvPr/>
        </p:nvGrpSpPr>
        <p:grpSpPr>
          <a:xfrm>
            <a:off x="302002" y="-206018"/>
            <a:ext cx="11544754" cy="6812558"/>
            <a:chOff x="302002" y="-206018"/>
            <a:chExt cx="11544754" cy="6812558"/>
          </a:xfrm>
        </p:grpSpPr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3C44C02C-081F-BED0-D6AD-14E853857BBA}"/>
                </a:ext>
              </a:extLst>
            </p:cNvPr>
            <p:cNvSpPr/>
            <p:nvPr/>
          </p:nvSpPr>
          <p:spPr>
            <a:xfrm>
              <a:off x="302002" y="907609"/>
              <a:ext cx="11544754" cy="5698931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E15368CA-E4DB-7718-2A41-27F135DAB4D0}"/>
                </a:ext>
              </a:extLst>
            </p:cNvPr>
            <p:cNvGrpSpPr/>
            <p:nvPr/>
          </p:nvGrpSpPr>
          <p:grpSpPr>
            <a:xfrm>
              <a:off x="10266948" y="-206018"/>
              <a:ext cx="1339576" cy="1716660"/>
              <a:chOff x="10266948" y="-206018"/>
              <a:chExt cx="1339576" cy="1716660"/>
            </a:xfrm>
          </p:grpSpPr>
          <p:sp>
            <p:nvSpPr>
              <p:cNvPr id="14" name="Título 1">
                <a:extLst>
                  <a:ext uri="{FF2B5EF4-FFF2-40B4-BE49-F238E27FC236}">
                    <a16:creationId xmlns:a16="http://schemas.microsoft.com/office/drawing/2014/main" id="{BD4FDC23-8EEC-4944-2580-A2FC374CD2D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266948" y="-206018"/>
                <a:ext cx="1339576" cy="1716660"/>
              </a:xfrm>
              <a:prstGeom prst="rect">
                <a:avLst/>
              </a:prstGeom>
              <a:solidFill>
                <a:srgbClr val="20236D"/>
              </a:solidFill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s-ES" sz="2800" dirty="0">
                    <a:solidFill>
                      <a:srgbClr val="FFFFFF"/>
                    </a:solidFill>
                    <a:latin typeface="Calibri"/>
                    <a:ea typeface="Calibri"/>
                    <a:cs typeface="Calibri Light"/>
                  </a:rPr>
                  <a:t>  </a:t>
                </a:r>
                <a:endParaRPr lang="es-ES" sz="2800" dirty="0">
                  <a:solidFill>
                    <a:srgbClr val="FFFFFF"/>
                  </a:solidFill>
                  <a:latin typeface="Calibri"/>
                  <a:ea typeface="Calibri"/>
                </a:endParaRPr>
              </a:p>
            </p:txBody>
          </p:sp>
          <p:pic>
            <p:nvPicPr>
              <p:cNvPr id="13" name="Imagen 12">
                <a:extLst>
                  <a:ext uri="{FF2B5EF4-FFF2-40B4-BE49-F238E27FC236}">
                    <a16:creationId xmlns:a16="http://schemas.microsoft.com/office/drawing/2014/main" id="{E22975E8-8974-FCA4-BF3D-C8A1AD8F6A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375523" y="394074"/>
                <a:ext cx="1151092" cy="973350"/>
              </a:xfrm>
              <a:prstGeom prst="rect">
                <a:avLst/>
              </a:prstGeom>
            </p:spPr>
          </p:pic>
        </p:grpSp>
      </p:grpSp>
      <p:sp>
        <p:nvSpPr>
          <p:cNvPr id="4" name="Rectángulo 3">
            <a:extLst>
              <a:ext uri="{FF2B5EF4-FFF2-40B4-BE49-F238E27FC236}">
                <a16:creationId xmlns:a16="http://schemas.microsoft.com/office/drawing/2014/main" id="{ACD47DFB-493A-6667-77EE-9717D911E58D}"/>
              </a:ext>
            </a:extLst>
          </p:cNvPr>
          <p:cNvSpPr/>
          <p:nvPr/>
        </p:nvSpPr>
        <p:spPr>
          <a:xfrm>
            <a:off x="1463040" y="648352"/>
            <a:ext cx="8595360" cy="520700"/>
          </a:xfrm>
          <a:prstGeom prst="rect">
            <a:avLst/>
          </a:prstGeom>
          <a:solidFill>
            <a:schemeClr val="tx2">
              <a:lumMod val="50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7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NINGUNA COHORTE ESTÁ COMPLETA</a:t>
            </a:r>
          </a:p>
        </p:txBody>
      </p:sp>
      <p:pic>
        <p:nvPicPr>
          <p:cNvPr id="15" name="Picture 14" descr="f4_fig4_truncamien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347" y="1600200"/>
            <a:ext cx="5389305" cy="28803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8680" y="4709160"/>
            <a:ext cx="104241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3B3B3B"/>
                </a:solidFill>
              </a:rPr>
              <a:t>De las cohortes recientes solo se han titulado los más rápidos; de las antiguas, solo los más rezagados.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3B3B3B"/>
                </a:solidFill>
              </a:rPr>
              <a:t>Ninguna cohorte está completa, y lo están en direcciones opuestas: el descenso de la serie no es una mejora del sistema.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3B3B3B"/>
                </a:solidFill>
              </a:rPr>
              <a:t>Es una limitación del diseño de la fuente, no del procesamiento — y declararla es parte del resultado.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6053328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808080"/>
                </a:solidFill>
              </a:rPr>
              <a:t>Fuente: elaboración propia a partir de SIES, Titulados de Educación Superior 2020-2025.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o 6">
            <a:extLst>
              <a:ext uri="{FF2B5EF4-FFF2-40B4-BE49-F238E27FC236}">
                <a16:creationId xmlns:a16="http://schemas.microsoft.com/office/drawing/2014/main" id="{3089DBCA-FFA2-7FCA-0978-020F1612CD92}"/>
              </a:ext>
            </a:extLst>
          </p:cNvPr>
          <p:cNvGrpSpPr/>
          <p:nvPr/>
        </p:nvGrpSpPr>
        <p:grpSpPr>
          <a:xfrm>
            <a:off x="302002" y="-206018"/>
            <a:ext cx="11544754" cy="6812558"/>
            <a:chOff x="302002" y="-206018"/>
            <a:chExt cx="11544754" cy="6812558"/>
          </a:xfrm>
        </p:grpSpPr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3C44C02C-081F-BED0-D6AD-14E853857BBA}"/>
                </a:ext>
              </a:extLst>
            </p:cNvPr>
            <p:cNvSpPr/>
            <p:nvPr/>
          </p:nvSpPr>
          <p:spPr>
            <a:xfrm>
              <a:off x="302002" y="907609"/>
              <a:ext cx="11544754" cy="5698931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E15368CA-E4DB-7718-2A41-27F135DAB4D0}"/>
                </a:ext>
              </a:extLst>
            </p:cNvPr>
            <p:cNvGrpSpPr/>
            <p:nvPr/>
          </p:nvGrpSpPr>
          <p:grpSpPr>
            <a:xfrm>
              <a:off x="10266948" y="-206018"/>
              <a:ext cx="1339576" cy="1716660"/>
              <a:chOff x="10266948" y="-206018"/>
              <a:chExt cx="1339576" cy="1716660"/>
            </a:xfrm>
          </p:grpSpPr>
          <p:sp>
            <p:nvSpPr>
              <p:cNvPr id="14" name="Título 1">
                <a:extLst>
                  <a:ext uri="{FF2B5EF4-FFF2-40B4-BE49-F238E27FC236}">
                    <a16:creationId xmlns:a16="http://schemas.microsoft.com/office/drawing/2014/main" id="{BD4FDC23-8EEC-4944-2580-A2FC374CD2D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266948" y="-206018"/>
                <a:ext cx="1339576" cy="1716660"/>
              </a:xfrm>
              <a:prstGeom prst="rect">
                <a:avLst/>
              </a:prstGeom>
              <a:solidFill>
                <a:srgbClr val="20236D"/>
              </a:solidFill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s-ES" sz="2800" dirty="0">
                    <a:solidFill>
                      <a:srgbClr val="FFFFFF"/>
                    </a:solidFill>
                    <a:latin typeface="Calibri"/>
                    <a:ea typeface="Calibri"/>
                    <a:cs typeface="Calibri Light"/>
                  </a:rPr>
                  <a:t>  </a:t>
                </a:r>
                <a:endParaRPr lang="es-ES" sz="2800" dirty="0">
                  <a:solidFill>
                    <a:srgbClr val="FFFFFF"/>
                  </a:solidFill>
                  <a:latin typeface="Calibri"/>
                  <a:ea typeface="Calibri"/>
                </a:endParaRPr>
              </a:p>
            </p:txBody>
          </p:sp>
          <p:pic>
            <p:nvPicPr>
              <p:cNvPr id="13" name="Imagen 12">
                <a:extLst>
                  <a:ext uri="{FF2B5EF4-FFF2-40B4-BE49-F238E27FC236}">
                    <a16:creationId xmlns:a16="http://schemas.microsoft.com/office/drawing/2014/main" id="{E22975E8-8974-FCA4-BF3D-C8A1AD8F6A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375523" y="394074"/>
                <a:ext cx="1151092" cy="973350"/>
              </a:xfrm>
              <a:prstGeom prst="rect">
                <a:avLst/>
              </a:prstGeom>
            </p:spPr>
          </p:pic>
        </p:grpSp>
      </p:grpSp>
      <p:sp>
        <p:nvSpPr>
          <p:cNvPr id="4" name="Rectángulo 3">
            <a:extLst>
              <a:ext uri="{FF2B5EF4-FFF2-40B4-BE49-F238E27FC236}">
                <a16:creationId xmlns:a16="http://schemas.microsoft.com/office/drawing/2014/main" id="{ACD47DFB-493A-6667-77EE-9717D911E58D}"/>
              </a:ext>
            </a:extLst>
          </p:cNvPr>
          <p:cNvSpPr/>
          <p:nvPr/>
        </p:nvSpPr>
        <p:spPr>
          <a:xfrm>
            <a:off x="1463040" y="648352"/>
            <a:ext cx="8595360" cy="520700"/>
          </a:xfrm>
          <a:prstGeom prst="rect">
            <a:avLst/>
          </a:prstGeom>
          <a:solidFill>
            <a:schemeClr val="tx2">
              <a:lumMod val="50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7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EL RIGOR DETRÁS DE LAS CIFRAS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737360"/>
            <a:ext cx="239572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3600" b="1">
                <a:solidFill>
                  <a:srgbClr val="1E7A46"/>
                </a:solidFill>
              </a:rPr>
              <a:t>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395728"/>
            <a:ext cx="2395728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3B3B3B"/>
                </a:solidFill>
              </a:rPr>
              <a:t>pruebas automatizadas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3B3B3B"/>
                </a:solidFill>
              </a:rPr>
              <a:t>de casos normales,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3B3B3B"/>
                </a:solidFill>
              </a:rPr>
              <a:t>límite y excepciones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7872" y="1737360"/>
            <a:ext cx="239572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3600" b="1">
                <a:solidFill>
                  <a:srgbClr val="1E7A46"/>
                </a:solidFill>
              </a:rPr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2395728"/>
            <a:ext cx="2395728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3B3B3B"/>
                </a:solidFill>
              </a:rPr>
              <a:t>reglas de coherencia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3B3B3B"/>
                </a:solidFill>
              </a:rPr>
              <a:t>del dominio, todas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3B3B3B"/>
                </a:solidFill>
              </a:rPr>
              <a:t>aprobadas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7064" y="1737360"/>
            <a:ext cx="239572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3600" b="1">
                <a:solidFill>
                  <a:srgbClr val="20236D"/>
                </a:solidFill>
              </a:rPr>
              <a:t>6.516×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7064" y="2395728"/>
            <a:ext cx="2395728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3B3B3B"/>
                </a:solidFill>
              </a:rPr>
              <a:t>más rápido el conteo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3B3B3B"/>
                </a:solidFill>
              </a:rPr>
              <a:t>por búsqueda binaria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3B3B3B"/>
                </a:solidFill>
              </a:rPr>
              <a:t>que el lineal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06256" y="1737360"/>
            <a:ext cx="239572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3600" b="1">
                <a:solidFill>
                  <a:srgbClr val="20236D"/>
                </a:solidFill>
              </a:rPr>
              <a:t>860×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06256" y="2395728"/>
            <a:ext cx="2395728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3B3B3B"/>
                </a:solidFill>
              </a:rPr>
              <a:t>menos memoria la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3B3B3B"/>
                </a:solidFill>
              </a:rPr>
              <a:t>agregación de una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3B3B3B"/>
                </a:solidFill>
              </a:rPr>
              <a:t>sola pasada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611880"/>
            <a:ext cx="49834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3B3B3B"/>
                </a:solidFill>
              </a:rPr>
              <a:t>Los algoritmos se implementaron desde cero y se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3B3B3B"/>
                </a:solidFill>
              </a:rPr>
              <a:t>verificaron contra pandas, sorted y NumPy antes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3B3B3B"/>
                </a:solidFill>
              </a:rPr>
              <a:t>de medir su tiempo.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endParaRPr sz="1300" b="0">
              <a:solidFill>
                <a:srgbClr val="3B3B3B"/>
              </a:solidFill>
            </a:endParaRP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3B3B3B"/>
                </a:solidFill>
              </a:rPr>
              <a:t>Las curvas log-log confirmaron las cotas: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3B3B3B"/>
                </a:solidFill>
              </a:rPr>
              <a:t>1,00 lineal · 1,08 merge sort · 2,04 inserción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611880"/>
            <a:ext cx="49834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3B3B3B"/>
                </a:solidFill>
              </a:rPr>
              <a:t>Y mostraron dónde la teoría no basta: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endParaRPr sz="1300" b="0">
              <a:solidFill>
                <a:srgbClr val="3B3B3B"/>
              </a:solidFill>
            </a:endParaRP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3B3B3B"/>
                </a:solidFill>
              </a:rPr>
              <a:t>quickselect es O(n) en comparaciones pero escala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3B3B3B"/>
                </a:solidFill>
              </a:rPr>
              <a:t>como n^1,22, porque cada nivel de recursión asigna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3B3B3B"/>
                </a:solidFill>
              </a:rPr>
              <a:t>tres listas nuevas.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endParaRPr sz="1300" b="0">
              <a:solidFill>
                <a:srgbClr val="3B3B3B"/>
              </a:solidFill>
            </a:endParaRP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3B3B3B"/>
                </a:solidFill>
              </a:rPr>
              <a:t>La cota describe el crecimiento, no la constante.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o 6">
            <a:extLst>
              <a:ext uri="{FF2B5EF4-FFF2-40B4-BE49-F238E27FC236}">
                <a16:creationId xmlns:a16="http://schemas.microsoft.com/office/drawing/2014/main" id="{3089DBCA-FFA2-7FCA-0978-020F1612CD92}"/>
              </a:ext>
            </a:extLst>
          </p:cNvPr>
          <p:cNvGrpSpPr/>
          <p:nvPr/>
        </p:nvGrpSpPr>
        <p:grpSpPr>
          <a:xfrm>
            <a:off x="302002" y="-206018"/>
            <a:ext cx="11544754" cy="6812558"/>
            <a:chOff x="302002" y="-206018"/>
            <a:chExt cx="11544754" cy="6812558"/>
          </a:xfrm>
        </p:grpSpPr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3C44C02C-081F-BED0-D6AD-14E853857BBA}"/>
                </a:ext>
              </a:extLst>
            </p:cNvPr>
            <p:cNvSpPr/>
            <p:nvPr/>
          </p:nvSpPr>
          <p:spPr>
            <a:xfrm>
              <a:off x="302002" y="907609"/>
              <a:ext cx="11544754" cy="5698931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E15368CA-E4DB-7718-2A41-27F135DAB4D0}"/>
                </a:ext>
              </a:extLst>
            </p:cNvPr>
            <p:cNvGrpSpPr/>
            <p:nvPr/>
          </p:nvGrpSpPr>
          <p:grpSpPr>
            <a:xfrm>
              <a:off x="10266948" y="-206018"/>
              <a:ext cx="1339576" cy="1716660"/>
              <a:chOff x="10266948" y="-206018"/>
              <a:chExt cx="1339576" cy="1716660"/>
            </a:xfrm>
          </p:grpSpPr>
          <p:sp>
            <p:nvSpPr>
              <p:cNvPr id="14" name="Título 1">
                <a:extLst>
                  <a:ext uri="{FF2B5EF4-FFF2-40B4-BE49-F238E27FC236}">
                    <a16:creationId xmlns:a16="http://schemas.microsoft.com/office/drawing/2014/main" id="{BD4FDC23-8EEC-4944-2580-A2FC374CD2D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266948" y="-206018"/>
                <a:ext cx="1339576" cy="1716660"/>
              </a:xfrm>
              <a:prstGeom prst="rect">
                <a:avLst/>
              </a:prstGeom>
              <a:solidFill>
                <a:srgbClr val="20236D"/>
              </a:solidFill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s-ES" sz="2800" dirty="0">
                    <a:solidFill>
                      <a:srgbClr val="FFFFFF"/>
                    </a:solidFill>
                    <a:latin typeface="Calibri"/>
                    <a:ea typeface="Calibri"/>
                    <a:cs typeface="Calibri Light"/>
                  </a:rPr>
                  <a:t>  </a:t>
                </a:r>
                <a:endParaRPr lang="es-ES" sz="2800" dirty="0">
                  <a:solidFill>
                    <a:srgbClr val="FFFFFF"/>
                  </a:solidFill>
                  <a:latin typeface="Calibri"/>
                  <a:ea typeface="Calibri"/>
                </a:endParaRPr>
              </a:p>
            </p:txBody>
          </p:sp>
          <p:pic>
            <p:nvPicPr>
              <p:cNvPr id="13" name="Imagen 12">
                <a:extLst>
                  <a:ext uri="{FF2B5EF4-FFF2-40B4-BE49-F238E27FC236}">
                    <a16:creationId xmlns:a16="http://schemas.microsoft.com/office/drawing/2014/main" id="{E22975E8-8974-FCA4-BF3D-C8A1AD8F6A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375523" y="394074"/>
                <a:ext cx="1151092" cy="973350"/>
              </a:xfrm>
              <a:prstGeom prst="rect">
                <a:avLst/>
              </a:prstGeom>
            </p:spPr>
          </p:pic>
        </p:grpSp>
      </p:grpSp>
      <p:sp>
        <p:nvSpPr>
          <p:cNvPr id="4" name="Rectángulo 3">
            <a:extLst>
              <a:ext uri="{FF2B5EF4-FFF2-40B4-BE49-F238E27FC236}">
                <a16:creationId xmlns:a16="http://schemas.microsoft.com/office/drawing/2014/main" id="{ACD47DFB-493A-6667-77EE-9717D911E58D}"/>
              </a:ext>
            </a:extLst>
          </p:cNvPr>
          <p:cNvSpPr/>
          <p:nvPr/>
        </p:nvSpPr>
        <p:spPr>
          <a:xfrm>
            <a:off x="1463040" y="648352"/>
            <a:ext cx="8595360" cy="520700"/>
          </a:xfrm>
          <a:prstGeom prst="rect">
            <a:avLst/>
          </a:prstGeom>
          <a:solidFill>
            <a:schemeClr val="tx2">
              <a:lumMod val="50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7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CONCLUSIONES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1783080"/>
            <a:ext cx="457200" cy="457200"/>
          </a:xfrm>
          <a:prstGeom prst="ellipse">
            <a:avLst/>
          </a:prstGeom>
          <a:solidFill>
            <a:srgbClr val="2023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1801368"/>
            <a:ext cx="9692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20236D"/>
                </a:solidFill>
              </a:rPr>
              <a:t>El rezago es masivo y estructural.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2167128"/>
            <a:ext cx="9692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3B3B3B"/>
                </a:solidFill>
              </a:rPr>
              <a:t>80 % egresa fuera de plazo; Derecho triplica a Educación; las mujeres se titulan antes en las diez áreas.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2807208"/>
            <a:ext cx="457200" cy="457200"/>
          </a:xfrm>
          <a:prstGeom prst="ellipse">
            <a:avLst/>
          </a:prstGeom>
          <a:solidFill>
            <a:srgbClr val="2023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2825496"/>
            <a:ext cx="9692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20236D"/>
                </a:solidFill>
              </a:rPr>
              <a:t>La pandemia desplazó, no deterioró.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191256"/>
            <a:ext cx="9692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3B3B3B"/>
                </a:solidFill>
              </a:rPr>
              <a:t>La caída de 2020 y el máximo de 2021 son el mismo fenómeno visto en dos momentos.</a:t>
            </a:r>
          </a:p>
        </p:txBody>
      </p:sp>
      <p:sp>
        <p:nvSpPr>
          <p:cNvPr id="21" name="Oval 20"/>
          <p:cNvSpPr/>
          <p:nvPr/>
        </p:nvSpPr>
        <p:spPr>
          <a:xfrm>
            <a:off x="868680" y="3831336"/>
            <a:ext cx="457200" cy="457200"/>
          </a:xfrm>
          <a:prstGeom prst="ellipse">
            <a:avLst/>
          </a:prstGeom>
          <a:solidFill>
            <a:srgbClr val="2023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849624"/>
            <a:ext cx="9692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20236D"/>
                </a:solidFill>
              </a:rPr>
              <a:t>Los registros no explican el caso individual.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215384"/>
            <a:ext cx="9692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3B3B3B"/>
                </a:solidFill>
              </a:rPr>
              <a:t>R² de 0,085: el rezago depende de trayectorias personales que la fuente no registra. Es un resultado, no un fracaso.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" y="4855464"/>
            <a:ext cx="457200" cy="457200"/>
          </a:xfrm>
          <a:prstGeom prst="ellipse">
            <a:avLst/>
          </a:prstGeom>
          <a:solidFill>
            <a:srgbClr val="2023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873752"/>
            <a:ext cx="9692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20236D"/>
                </a:solidFill>
              </a:rPr>
              <a:t>Todo el proyecto es reproducible.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5239512"/>
            <a:ext cx="9692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3B3B3B"/>
                </a:solidFill>
              </a:rPr>
              <a:t>Cuatro comandos, 73 pruebas, 45 commits con historial verificable y cada cifra rastreable a su archivo.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n 16">
            <a:extLst>
              <a:ext uri="{FF2B5EF4-FFF2-40B4-BE49-F238E27FC236}">
                <a16:creationId xmlns:a16="http://schemas.microsoft.com/office/drawing/2014/main" id="{D903B572-7AB0-4369-C487-D62538C3B6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2400" y="2606876"/>
            <a:ext cx="1727200" cy="1460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743200" y="4892040"/>
            <a:ext cx="670255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</a:rPr>
              <a:t>Incorporar la matrícula para ver la deserción  ·  Modelos de supervivencia para datos censurados</a:t>
            </a: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</a:rPr>
              <a:t>github.com/santunez75/proyecto-titulados</a:t>
            </a:r>
          </a:p>
        </p:txBody>
      </p:sp>
    </p:spTree>
    <p:extLst>
      <p:ext uri="{BB962C8B-B14F-4D97-AF65-F5344CB8AC3E}">
        <p14:creationId xmlns:p14="http://schemas.microsoft.com/office/powerpoint/2010/main" val="22074128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2258</TotalTime>
  <Words>2009</Words>
  <Application>Microsoft Office PowerPoint</Application>
  <PresentationFormat>Widescreen</PresentationFormat>
  <Paragraphs>240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Cambria</vt:lpstr>
      <vt:lpstr>Consolas</vt:lpstr>
      <vt:lpstr>Montserrat</vt:lpstr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Sobreduracion en la titulacion de la educacion superior chilena (2020-2025)</dc:title>
  <dc:subject>Fase 4 - Proyecto final integrador</dc:subject>
  <dc:creator>Sebastian Antunez Noguera</dc:creator>
  <cp:keywords/>
  <dc:description>Programacion para la Ciencia de Datos (202682.1927)</dc:description>
  <cp:lastModifiedBy>ANTUNEZ NOGUERA SEBASTIAN H</cp:lastModifiedBy>
  <cp:revision>31</cp:revision>
  <dcterms:created xsi:type="dcterms:W3CDTF">2023-10-13T18:05:47Z</dcterms:created>
  <dcterms:modified xsi:type="dcterms:W3CDTF">2026-10-01T17:07:51Z</dcterms:modified>
  <cp:category/>
</cp:coreProperties>
</file>