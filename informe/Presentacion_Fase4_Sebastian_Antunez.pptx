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9713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Sobreduración en la titulación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de la educación superior chilena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29000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8DCF0"/>
                </a:solidFill>
                <a:latin typeface="Arial"/>
              </a:rPr>
              <a:t>Un análisis reproducible de 1.246.760 procesos de titulación · 2020-2025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663440"/>
            <a:ext cx="99971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C8DCF0"/>
                </a:solidFill>
                <a:latin typeface="Arial"/>
              </a:rPr>
              <a:t>Sebastian Antunez Noguera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C8DCF0"/>
                </a:solidFill>
                <a:latin typeface="Arial"/>
              </a:rPr>
              <a:t>Programación para la Ciencia de Datos (202682.1927) · Profesor Omar Salinas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C8DCF0"/>
                </a:solidFill>
                <a:latin typeface="Arial"/>
              </a:rPr>
              <a:t>Magíster en Ciencia de Datos e Inteligencia Artificial · Universidad Andrés Bello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Lo que el sistema promete y lo que no mide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>Cada carrera en Chile declara una duración teórica.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>Esa cifra define expectativas, aranceles y la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>duración de becas y créditos estatales.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>Nadie publica cuánto se tarda en realidad.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>La diferencia —la sobreduración— no existe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44444"/>
                </a:solidFill>
                <a:latin typeface="Arial"/>
              </a:rPr>
              <a:t>como variable en ningún registro oficial.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0116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4E79"/>
                </a:solidFill>
                <a:latin typeface="Arial"/>
              </a:rPr>
              <a:t>La pregunta técnica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514600"/>
            <a:ext cx="5212080" cy="1554480"/>
          </a:xfrm>
          <a:prstGeom prst="rect">
            <a:avLst/>
          </a:prstGeom>
          <a:solidFill>
            <a:srgbClr val="EDF3F9"/>
          </a:solidFill>
          <a:ln>
            <a:solidFill>
              <a:srgbClr val="2C5F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7432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Arial"/>
              </a:rPr>
              <a:t>¿Se puede reconstruir la duración real</a:t>
            </a:r>
          </a:p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Arial"/>
              </a:rPr>
              <a:t>desde los registros administrativos</a:t>
            </a:r>
          </a:p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Arial"/>
              </a:rPr>
              <a:t>y caracterizar el rezago con ella?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389120"/>
            <a:ext cx="5212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88888"/>
                </a:solidFill>
                <a:latin typeface="Arial"/>
              </a:rPr>
              <a:t>Fuente: SIES, Titulados de Educación Superior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88888"/>
                </a:solidFill>
                <a:latin typeface="Arial"/>
              </a:rPr>
              <a:t>6 archivos · 955 MB · 1.710.167 filas · 40 columnas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Cómo se construyó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Cuatro fases, cada una sobre la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2606040" cy="2103120"/>
          </a:xfrm>
          <a:prstGeom prst="rect">
            <a:avLst/>
          </a:prstGeom>
          <a:solidFill>
            <a:srgbClr val="EDF3F9"/>
          </a:solidFill>
          <a:ln>
            <a:solidFill>
              <a:srgbClr val="2C5F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4E79"/>
                </a:solidFill>
                <a:latin typeface="Arial"/>
              </a:rPr>
              <a:t>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786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Definición y entorno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Pregunta técnica, entorno virtual,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dependencias fijadas, código modular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5576" y="1965960"/>
            <a:ext cx="2606040" cy="2103120"/>
          </a:xfrm>
          <a:prstGeom prst="rect">
            <a:avLst/>
          </a:prstGeom>
          <a:solidFill>
            <a:srgbClr val="EDF3F9"/>
          </a:solidFill>
          <a:ln>
            <a:solidFill>
              <a:srgbClr val="2C5F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21488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4E79"/>
                </a:solidFill>
                <a:latin typeface="Arial"/>
              </a:rPr>
              <a:t>F2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5786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Pipeline de datos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3017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Ingesta, centinelas, duplicados,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reconstrucción de la duración real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1965960"/>
            <a:ext cx="2606040" cy="2103120"/>
          </a:xfrm>
          <a:prstGeom prst="rect">
            <a:avLst/>
          </a:prstGeom>
          <a:solidFill>
            <a:srgbClr val="EDF3F9"/>
          </a:solidFill>
          <a:ln>
            <a:solidFill>
              <a:srgbClr val="2C5F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4E79"/>
                </a:solidFill>
                <a:latin typeface="Arial"/>
              </a:rPr>
              <a:t>F3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5786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Núcleo algorítmico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017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Algoritmos propios, complejidad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medida, POO y modelos por gradiente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1965960"/>
            <a:ext cx="2606040" cy="2103120"/>
          </a:xfrm>
          <a:prstGeom prst="rect">
            <a:avLst/>
          </a:prstGeom>
          <a:solidFill>
            <a:srgbClr val="DCECDC"/>
          </a:solidFill>
          <a:ln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9448" y="21488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7AE60"/>
                </a:solidFill>
                <a:latin typeface="Arial"/>
              </a:rPr>
              <a:t>F4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9448" y="257860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Análisis y difusión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8" y="30175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Resultados, visualizaciones,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discusión y comunicación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E79"/>
                </a:solidFill>
                <a:latin typeface="Arial"/>
              </a:rPr>
              <a:t>La transformación central: la duración real no existe en la fuente, se deriva.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0881360" cy="10515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10912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44444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44444"/>
                </a:solidFill>
                <a:latin typeface="Consolas"/>
              </a:rPr>
              <a:t>sobreduracion_sem = duracion_real_sem - dur_total_carr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El resultado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Cuatro de cada cinco titulados egresan fuera de plazo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7AE60"/>
                </a:solidFill>
                <a:latin typeface="Arial"/>
              </a:rPr>
              <a:t>19,0 %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0779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se titula dentro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del plazo teórico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0312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C5F8D"/>
                </a:solidFill>
                <a:latin typeface="Arial"/>
              </a:rPr>
              <a:t>2,76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90779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semestres de exceso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en promedio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0312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C0392B"/>
                </a:solidFill>
                <a:latin typeface="Arial"/>
              </a:rPr>
              <a:t>20,4 %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90779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acumula rezago severo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(más de 4 semestres)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10312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C5F8D"/>
                </a:solidFill>
                <a:latin typeface="Arial"/>
              </a:rPr>
              <a:t>3,55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907792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semestres-estudiante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en exceso, 2020-2025</a:t>
            </a:r>
          </a:p>
        </p:txBody>
      </p:sp>
      <p:pic>
        <p:nvPicPr>
          <p:cNvPr id="13" name="Picture 12" descr="f4_distribucion_sobre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106" y="3794760"/>
            <a:ext cx="5775483" cy="2377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Fuente: elaboración propia a partir de SIES, Titulados de Educación Superior 2020-2025 (n = 1.246.760).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El rezago no es homogéneo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Área, institución y género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4_factores_sobre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452" y="1828800"/>
            <a:ext cx="830079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Derecho triplica a Educación: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5,77 frente a 1,93 semestres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502920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Las universidades superan a los IP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en más de un semestre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502920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Las mujeres se titulan 0,93 semestres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antes, en las diez áreas sin excepción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Fuente: elaboración propia a partir de SIES, Titulados de Educación Superior 2020-2025.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La pandemia desplazó titulaciones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No las empeoró: las postergó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4_serie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8932" y="1783080"/>
            <a:ext cx="6773831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663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El mínimo y el máximo son el mismo fenómeno: quienes debían egresar en 2020 lo hicieron en 2021, con más semestres encima.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Una limitación que condiciona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Ninguna cohorte está completa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4_truncamiento_cohor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800" y="1783080"/>
            <a:ext cx="774209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8348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Están incompletas en direcciones opuestas, así que el descenso de la serie no es una mejora del sistema.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El rigor detrás de las cifras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Reproducibilidad, eficiencia y verificación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7AE60"/>
                </a:solidFill>
                <a:latin typeface="Arial"/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16352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pruebas automatizadas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de casos normales,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límite y excepciones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5576" y="201168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7AE60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5576" y="2816352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reglas de coherencia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del dominio, todas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aprobadas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201168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C5F8D"/>
                </a:solidFill>
                <a:latin typeface="Arial"/>
              </a:rPr>
              <a:t>6.516×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816352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más rápido el conteo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por búsqueda binaria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que el lineal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201168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C5F8D"/>
                </a:solidFill>
                <a:latin typeface="Arial"/>
              </a:rPr>
              <a:t>860×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6568" y="2816352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menos memoria la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agregación de una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Arial"/>
              </a:rPr>
              <a:t>sola pasada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5303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Los algoritmos se implementaron desde cero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y se verificaron contra pandas, sorted y NumPy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antes de medir su tiempo.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Las curvas log-log confirmaron las cotas: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1,00 lineal · 1,08 merge sort · 2,04 inserción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93192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Y mostraron dónde la teoría no basta: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quickselect es O(n) en comparaciones pero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escala como n^1,22, porque cada nivel de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recursión asigna tres listas nuevas.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444"/>
                </a:solidFill>
                <a:latin typeface="Arial"/>
              </a:rPr>
              <a:t>La cota describe el crecimiento, no la constante.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88888"/>
                </a:solidFill>
                <a:latin typeface="Arial"/>
              </a:rPr>
              <a:t>Qué respondimos y qué quedó abierto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11535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96596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842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79"/>
                </a:solidFill>
                <a:latin typeface="Arial"/>
              </a:rPr>
              <a:t>El rezago es masivo y estructural.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5000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53512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4495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71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79"/>
                </a:solidFill>
                <a:latin typeface="Arial"/>
              </a:rPr>
              <a:t>La pandemia desplazó, no deterioró.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37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La caída de 2020 y el máximo de 2021 son el mismo fenómeno visto en dos momentos.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941064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3250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95935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79"/>
                </a:solidFill>
                <a:latin typeface="Arial"/>
              </a:rPr>
              <a:t>Los registros no explican el caso individual.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2511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28616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020056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94690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79"/>
                </a:solidFill>
                <a:latin typeface="Arial"/>
              </a:rPr>
              <a:t>Todo el proyecto es reproducible.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31266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44444"/>
                </a:solidFill>
                <a:latin typeface="Arial"/>
              </a:rPr>
              <a:t>Cuatro comandos, 73 pruebas, 36 commits con historial verificable y cada cifra rastreable a su archivo.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8888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Lo que queda para seguir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853409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C8DCF0"/>
                </a:solidFill>
                <a:latin typeface="Arial"/>
              </a:rPr>
              <a:t>Incorporar la base de matrícula para ver la deserción, hoy invisible.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C8DCF0"/>
                </a:solidFill>
                <a:latin typeface="Arial"/>
              </a:rPr>
              <a:t>Usar modelos de supervivencia, adecuados a datos censurados.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C8DCF0"/>
                </a:solidFill>
                <a:latin typeface="Arial"/>
              </a:rPr>
              <a:t>Ampliar las variables hacia la trayectoria individual.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94960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>
                <a:solidFill>
                  <a:srgbClr val="C8DCF0"/>
                </a:solidFill>
                <a:latin typeface="Arial"/>
              </a:rPr>
              <a:t>github.com/santunez75/proyecto-titulados</a:t>
            </a:r>
          </a:p>
          <a:p>
            <a:pPr algn="ctr">
              <a:lnSpc>
                <a:spcPct val="140000"/>
              </a:lnSpc>
            </a:pPr>
            <a:r>
              <a:rPr sz="1500" b="0">
                <a:solidFill>
                  <a:srgbClr val="C8DCF0"/>
                </a:solidFill>
                <a:latin typeface="Arial"/>
              </a:rPr>
              <a:t>Sebastian Antunez Noguera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Sebastian Antunez Noguera</cp:lastModifiedBy>
  <cp:revision>1</cp:revision>
  <dcterms:created xsi:type="dcterms:W3CDTF">2013-01-27T09:14:16Z</dcterms:created>
  <dcterms:modified xsi:type="dcterms:W3CDTF">2013-01-27T09:15:58Z</dcterms:modified>
  <cp:category>Presentacion academica</cp:category>
</cp:coreProperties>
</file>